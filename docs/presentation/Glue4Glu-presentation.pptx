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69e070467141bd" /><Relationship Type="http://schemas.openxmlformats.org/officeDocument/2006/relationships/extended-properties" Target="/docProps/app.xml" Id="R4f17da763b594954" /><Relationship Type="http://schemas.openxmlformats.org/officeDocument/2006/relationships/officeDocument" Target="/ppt/presentation.xml" Id="R8a5b7f02152740f7" /></Relationships>
</file>

<file path=ppt/presentation.xml><?xml version="1.0" encoding="utf-8"?>
<p:presentation xmlns:p="http://schemas.openxmlformats.org/presentationml/2006/main">
  <p:sldMasterIdLst>
    <p:sldMasterId xmlns:r="http://schemas.openxmlformats.org/officeDocument/2006/relationships" id="2147483648" r:id="R256fbd8a08734c17"/>
  </p:sldMasterIdLst>
  <p:notesMasterIdLst>
    <p:notesMasterId xmlns:r="http://schemas.openxmlformats.org/officeDocument/2006/relationships" r:id="R50692a1aa3d64159"/>
  </p:notesMasterIdLst>
  <p:sldIdLst>
    <p:sldId xmlns:r="http://schemas.openxmlformats.org/officeDocument/2006/relationships" id="256" r:id="Reed83314f9c9413a"/>
    <p:sldId xmlns:r="http://schemas.openxmlformats.org/officeDocument/2006/relationships" id="257" r:id="R9d24d629774244b5"/>
    <p:sldId xmlns:r="http://schemas.openxmlformats.org/officeDocument/2006/relationships" id="258" r:id="R77efc8e140034589"/>
    <p:sldId xmlns:r="http://schemas.openxmlformats.org/officeDocument/2006/relationships" id="259" r:id="R9e446db9fa014ef3"/>
    <p:sldId xmlns:r="http://schemas.openxmlformats.org/officeDocument/2006/relationships" id="260" r:id="Rd0038c102f2f4d82"/>
    <p:sldId xmlns:r="http://schemas.openxmlformats.org/officeDocument/2006/relationships" id="261" r:id="Ra6ab0cb2ec024199"/>
    <p:sldId xmlns:r="http://schemas.openxmlformats.org/officeDocument/2006/relationships" id="262" r:id="R0f3e1ddbfae340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f31e9172a34ec3" /><Relationship Type="http://schemas.openxmlformats.org/officeDocument/2006/relationships/slideMaster" Target="/ppt/slideMasters/slideMaster1.xml" Id="R256fbd8a08734c17" /><Relationship Type="http://schemas.openxmlformats.org/officeDocument/2006/relationships/notesMaster" Target="/ppt/notesMasters/notesMaster1.xml" Id="R50692a1aa3d64159" /><Relationship Type="http://schemas.openxmlformats.org/officeDocument/2006/relationships/presProps" Target="/ppt/presProps.xml" Id="R590bc3cbb1824d61" /><Relationship Type="http://schemas.openxmlformats.org/officeDocument/2006/relationships/tableStyles" Target="/ppt/tableStyles.xml" Id="R0d6f4b6a02a84005" /><Relationship Type="http://schemas.openxmlformats.org/officeDocument/2006/relationships/slide" Target="/ppt/slides/slide1.xml" Id="Reed83314f9c9413a" /><Relationship Type="http://schemas.openxmlformats.org/officeDocument/2006/relationships/slide" Target="/ppt/slides/slide2.xml" Id="R9d24d629774244b5" /><Relationship Type="http://schemas.openxmlformats.org/officeDocument/2006/relationships/slide" Target="/ppt/slides/slide3.xml" Id="R77efc8e140034589" /><Relationship Type="http://schemas.openxmlformats.org/officeDocument/2006/relationships/slide" Target="/ppt/slides/slide4.xml" Id="R9e446db9fa014ef3" /><Relationship Type="http://schemas.openxmlformats.org/officeDocument/2006/relationships/slide" Target="/ppt/slides/slide5.xml" Id="Rd0038c102f2f4d82" /><Relationship Type="http://schemas.openxmlformats.org/officeDocument/2006/relationships/slide" Target="/ppt/slides/slide6.xml" Id="Ra6ab0cb2ec024199" /><Relationship Type="http://schemas.openxmlformats.org/officeDocument/2006/relationships/slide" Target="/ppt/slides/slide7.xml" Id="R0f3e1ddbfae340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80750efc554a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113627adcd49b6" /><Relationship Type="http://schemas.openxmlformats.org/officeDocument/2006/relationships/notesMaster" Target="/ppt/notesMasters/notesMaster1.xml" Id="R1266a89aac3e41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9d87e9dce54904" /><Relationship Type="http://schemas.openxmlformats.org/officeDocument/2006/relationships/notesMaster" Target="/ppt/notesMasters/notesMaster1.xml" Id="R3d97406dba4a43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bfe544f2ac40c3" /><Relationship Type="http://schemas.openxmlformats.org/officeDocument/2006/relationships/notesMaster" Target="/ppt/notesMasters/notesMaster1.xml" Id="Rd8be9d9da7c341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b239af0a2041ba" /><Relationship Type="http://schemas.openxmlformats.org/officeDocument/2006/relationships/notesMaster" Target="/ppt/notesMasters/notesMaster1.xml" Id="R2a19ac84b14b4a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26b31b24b94314" /><Relationship Type="http://schemas.openxmlformats.org/officeDocument/2006/relationships/notesMaster" Target="/ppt/notesMasters/notesMaster1.xml" Id="Rdfd4cbe010324b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2b9ec4ba9e4f92" /><Relationship Type="http://schemas.openxmlformats.org/officeDocument/2006/relationships/notesMaster" Target="/ppt/notesMasters/notesMaster1.xml" Id="R6a7408c0efd949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241f77589b4850" /><Relationship Type="http://schemas.openxmlformats.org/officeDocument/2006/relationships/notesMaster" Target="/ppt/notesMasters/notesMaster1.xml" Id="Rda2aebdd7e2141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Glue4Glu gives wearable signals daily metabolic context. We combine current readings with twenty-four-hour features and a week of trends. An experimental score compares those patterns with the higher-HbA1c study group.</a:t>
            </a:r>
          </a:p>
          <a:p xmlns:a="http://schemas.openxmlformats.org/drawingml/2006/main">
            <a:r>
              <a:t/>
            </a:r>
          </a:p>
          <a:p xmlns:a="http://schemas.openxmlformats.org/drawingml/2006/main">
            <a:r>
              <a:t>Cover image: AI-generated abstract decorative background. This is not a sensor trace or measured data.</a:t>
            </a:r>
          </a:p>
          <a:p xmlns:a="http://schemas.openxmlformats.org/drawingml/2006/main">
            <a:r>
              <a:t>Sources: user-provided Databricks historical-pilot UI image; databricks/DATA_FLOW.md; databricks/tiger/rolling_risk_evaluation.json; complete IMU50 preparation manifests; verified Tiger snapshot October 4, 2026, 10:09 a.m. Eastern. Datasets: https://physionet.org/content/big-ideas-glycemic-wearable/1.1.3/ and https://zenodo.org/records/21468410. Runtime counts are project evidence, not claims inferred from the linked dataset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actual Databricks pilot pipeline. Expanded local preparation processed over three billion acceleration samples into compact summaries. Our demo includes all sixty-six participants from two independent studies, without matching people across datasets.</a:t>
            </a:r>
          </a:p>
          <a:p xmlns:a="http://schemas.openxmlformats.org/drawingml/2006/main">
            <a:r>
              <a:t/>
            </a:r>
          </a:p>
          <a:p xmlns:a="http://schemas.openxmlformats.org/drawingml/2006/main">
            <a:r>
              <a:t>Image provenance: user-provided UI screenshot, original image unchanged. The shown pipeline processed 300M BIG IDEAs ACC rows and 52M IMU50 pilot ACC rows into 162K shared minute records. The image retains its 1.5K warning indicator; its meaning was not inspected. Node runtimes are not live latency benchmarks. The exact expanded IMU50 ACC manifest sum is 3,031,935,104. Prepared demo minutes: 855,360 (66 × 12,960). Fixtures span nine days including labeled synthetic extensions.</a:t>
            </a:r>
          </a:p>
          <a:p xmlns:a="http://schemas.openxmlformats.org/drawingml/2006/main">
            <a:r>
              <a:t>Sources: user-provided Databricks historical-pilot UI image; databricks/DATA_FLOW.md; databricks/tiger/rolling_risk_evaluation.json; complete IMU50 preparation manifests; verified Tiger snapshot October 4, 2026, 10:09 a.m. Eastern. Datasets: https://physionet.org/content/big-ideas-glycemic-wearable/1.1.3/ and https://zenodo.org/records/21468410. Runtime counts are project evidence, not claims inferred from the linked dataset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Databricks storage holds prepared history for the replay. The sender writes into Tiger Data, and the backend reads the same database directly. Databricks runs a separate analytics loop, reading minute events and publishing rolling features and scores every five minutes, plus processing time.</a:t>
            </a:r>
          </a:p>
          <a:p xmlns:a="http://schemas.openxmlformats.org/drawingml/2006/main">
            <a:r>
              <a:t/>
            </a:r>
          </a:p>
          <a:p xmlns:a="http://schemas.openxmlformats.org/drawingml/2006/main">
            <a:r>
              <a:t>This architecture shows the requested demo configuration: five-minute analytics. Operational pre-demo cadence is omitted from the presentation. Historical preparation includes Lakeflow for pilot transformations and local preprocessing for the expanded IMU50 cohort. Compact artifacts and history reside in Volumes. Prepared history seeds rolling calculations separately. Tiger raw and gold schemas are the same PostgreSQL database. gold.sensor_latest stores latest interpolated one-second snapshots; raw.sensor_events retains canonical minute events. Databricks merges into Bronze, derives rolling features, scores a pinned model, then writes gold.dashboard_windows. gold.dashboard_live joins current snapshots with latest analytics. Backend requests read published outputs and never trigger compute. Real-only training and held-out models are versioned separately.</a:t>
            </a:r>
          </a:p>
          <a:p xmlns:a="http://schemas.openxmlformats.org/drawingml/2006/main">
            <a:r>
              <a:t>Sources: user-provided Databricks historical-pilot UI image; databricks/DATA_FLOW.md; databricks/tiger/rolling_risk_evaluation.json; complete IMU50 preparation manifests; verified Tiger snapshot October 4, 2026, 10:09 a.m. Eastern. Datasets: https://physionet.org/content/big-ideas-glycemic-wearable/1.1.3/ and https://zenodo.org/records/21468410. Runtime counts are project evidence, not claims inferred from the linked dataset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random forest uses twelve movement and skin-temperature features. We held out whole participants across six hundred sixty real windows from fifteen people. Participant-weighted window accuracy reached sixty point four percent, versus fifty-three point three for the baseline. The score measures cohort similarity. Synthetic data stays out of training, and clinical validation is future work.</a:t>
            </a:r>
          </a:p>
          <a:p xmlns:a="http://schemas.openxmlformats.org/drawingml/2006/main">
            <a:r>
              <a:t/>
            </a:r>
          </a:p>
          <a:p xmlns:a="http://schemas.openxmlformats.org/drawingml/2006/main">
            <a:r>
              <a:t>Percentages use participant-weighted held-out real-window evaluation, not random window splits. Final forest: 64 trees, depth 3, minimum leaf 20. Model selection used nested participant folds. Known participants use their held-out-person models, which may be logistic or forest. Final model applies to IMU50 with unvalidated device transfer. Heart rate is display-only, not an input. Participant 015 is excluded for inadequate coverage. Synthetic fixtures are excluded from fitting and evaluation. Score is cohort resemblance, not calibrated disease probability, glucose, or diagnosis.</a:t>
            </a:r>
          </a:p>
          <a:p xmlns:a="http://schemas.openxmlformats.org/drawingml/2006/main">
            <a:r>
              <a:t>Sources: user-provided Databricks historical-pilot UI image; databricks/DATA_FLOW.md; databricks/tiger/rolling_risk_evaluation.json; complete IMU50 preparation manifests; verified Tiger snapshot October 4, 2026, 10:09 a.m. Eastern. Datasets: https://physionet.org/content/big-ideas-glycemic-wearable/1.1.3/ and https://zenodo.org/records/21468410. Runtime counts are project evidence, not claims inferred from the linked dataset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Tiger Data is our live serving layer. It refreshes current values every second for sixty-six people and keeps minute history in Timescale hypertables. The backend reads published metrics and trends without triggering analytics. For the AI explanation flow, the OpenAI Agents SDK coordinates the agent and guardrails, while the Gemini API generates a contextual response. That explanation uses the computed results. Databricks still produces the metabolic score.</a:t>
            </a:r>
          </a:p>
          <a:p xmlns:a="http://schemas.openxmlformats.org/drawingml/2006/main">
            <a:r>
              <a:t/>
            </a:r>
          </a:p>
          <a:p xmlns:a="http://schemas.openxmlformats.org/drawingml/2006/main">
            <a:r>
              <a:t>Sources: databricks/tiger/README.md (expanded preparation totals); databricks/tiger/fast_sensor.py (one-second latest upserts, canonical minute events, joined dashboard view); databricks/tiger/schema.sql (Timescale hypertable); databricks/tiger/dashboard_queries.sql (read contract). Gemini API and OpenAI Agents SDK usage are confirmed by the product team in the presentation request. The diagram describes their high-level relationship and does not assert specific guardrail policies, agent counts, provider transport, or medical-safety guarantees. The current repository contains the data-serving implementation separately from the team’s API integration.</a:t>
            </a:r>
          </a:p>
          <a:p xmlns:a="http://schemas.openxmlformats.org/drawingml/2006/main">
            <a:r>
              <a:t/>
            </a:r>
          </a:p>
          <a:p xmlns:a="http://schemas.openxmlformats.org/drawingml/2006/main">
            <a:r>
              <a:t>SDK capability references: https://developers.openai.com/api/docs/guides/agents/sdk and https://developers.openai.com/api/docs/guides/agents/guardrails-approvals. These support the general labels orchestration and guardrails, not verification of team-specific policies. Demo second-level values interpolate minute summaries. Durable history remains canonical minute data. Analytics target five minutes plus processing delay.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will show the live dashboard. Watch readings update each second, compare the score with its seven-day trend, and ask the AI to explain that participant’s recent context.</a:t>
            </a:r>
          </a:p>
          <a:p xmlns:a="http://schemas.openxmlformats.org/drawingml/2006/main">
            <a:r>
              <a:t/>
            </a:r>
          </a:p>
          <a:p xmlns:a="http://schemas.openxmlformats.org/drawingml/2006/main">
            <a:r>
              <a:t>Live demo: select a participant, show the sensor publication timestamp advancing, point to the latest rolling score, and show the seven-day trend. Allow 15–20 seconds. The team has confirmed it will present its live dashboard. Demo sensor values are explicitly labeled interpolations and synthetic extensions. Analytics target five minutes plus Databricks processing delay. Scored count is the verified 10:09 snapshot, not a current recount.</a:t>
            </a:r>
          </a:p>
          <a:p xmlns:a="http://schemas.openxmlformats.org/drawingml/2006/main">
            <a:r>
              <a:t>Sources: user-provided Databricks historical-pilot UI image; databricks/DATA_FLOW.md; databricks/tiger/rolling_risk_evaluation.json; complete IMU50 preparation manifests; verified Tiger snapshot October 4, 2026, 10:09 a.m. Eastern. Datasets: https://physionet.org/content/big-ideas-glycemic-wearable/1.1.3/ and https://zenodo.org/records/21468410. Runtime counts are project evidence, not claims inferred from the linked dataset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outside the timed pitch. Dataset pages verified October 4, 2026. The BIG IDEAs v1.1.3 resource requests its dataset citation, original Bent study, and standard PhysioNet platform citation. IMU50 and BIG IDEAs contain independent participants. This bibliography attributes original measured datasets, not synthetic demo extensions.</a:t>
            </a:r>
          </a:p>
          <a:p xmlns:a="http://schemas.openxmlformats.org/drawingml/2006/main">
            <a:r>
              <a:t/>
            </a:r>
          </a:p>
          <a:p xmlns:a="http://schemas.openxmlformats.org/drawingml/2006/main">
            <a:r>
              <a:t>Cho, P., Kim, J., Bent, B., &amp; Dunn, J. (2026). BIG IDEAs Lab Glycemic Variability and Wearable Device Data (version 1.1.3). PhysioNet. https://doi.org/10.13026/aw6y-fc44</a:t>
            </a:r>
          </a:p>
          <a:p xmlns:a="http://schemas.openxmlformats.org/drawingml/2006/main">
            <a:r>
              <a:t/>
            </a:r>
          </a:p>
          <a:p xmlns:a="http://schemas.openxmlformats.org/drawingml/2006/main">
            <a:r>
              <a:t>La Fratta, I., et al. (2026). IMU50: high-frequency wrist-worn IMU recordings from 50 subjects (v1). Zenodo. https://doi.org/10.5281/zenodo.21468410 (Title abbreviated; the DOI resolves the full dataset record.)</a:t>
            </a:r>
          </a:p>
          <a:p xmlns:a="http://schemas.openxmlformats.org/drawingml/2006/main">
            <a:r>
              <a:t/>
            </a:r>
          </a:p>
          <a:p xmlns:a="http://schemas.openxmlformats.org/drawingml/2006/main">
            <a:r>
              <a:t>Bent, B., et al. (2021). Engineering digital biomarkers of interstitial glucose from noninvasive smartwatches. npj Digital Medicine, 4, 89. https://doi.org/10.1038/s41746-021-00465-w</a:t>
            </a:r>
          </a:p>
          <a:p xmlns:a="http://schemas.openxmlformats.org/drawingml/2006/main">
            <a:r>
              <a:t/>
            </a:r>
          </a:p>
          <a:p xmlns:a="http://schemas.openxmlformats.org/drawingml/2006/main">
            <a:r>
              <a:t>Pollard, T., et al. (2026). PhysioNet platform reference. Nature Health, 1, 792–795. https://doi.org/10.1038/s44360-026-00096-z (Article title abbreviated.)</a:t>
            </a:r>
          </a:p>
          <a:p xmlns:a="http://schemas.openxmlformats.org/drawingml/2006/main">
            <a:r>
              <a:t/>
            </a:r>
          </a:p>
          <a:p xmlns:a="http://schemas.openxmlformats.org/drawingml/2006/main">
            <a:r>
              <a:t>Primary metadata sources: https://physionet.org/content/big-ideas-glycemic-wearable/1.1.3/ and https://zenodo.org/records/21468410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6f08c0c88f43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9291e35bb24d68" /><Relationship Type="http://schemas.openxmlformats.org/officeDocument/2006/relationships/slideLayout" Target="/ppt/slideLayouts/slideLayout1.xml" Id="R1144733c123e4a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44733c123e4a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a506694b1b4768" /><Relationship Type="http://schemas.openxmlformats.org/officeDocument/2006/relationships/image" Target="/ppt/media/image.png" Id="R63f3ec0e86034db9" /><Relationship Type="http://schemas.openxmlformats.org/officeDocument/2006/relationships/notesSlide" Target="/ppt/notesSlides/notesSlide1.xml" Id="R6949e47e3bfb44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a917b98c544ce3" /><Relationship Type="http://schemas.openxmlformats.org/officeDocument/2006/relationships/image" Target="/ppt/media/image2.png" Id="R055d1e4dbad14fc7" /><Relationship Type="http://schemas.openxmlformats.org/officeDocument/2006/relationships/notesSlide" Target="/ppt/notesSlides/notesSlide2.xml" Id="R3f3052c4d21a40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cc6f9d771f47d0" /><Relationship Type="http://schemas.openxmlformats.org/officeDocument/2006/relationships/notesSlide" Target="/ppt/notesSlides/notesSlide3.xml" Id="Re5efd872d4f141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ff35cfea0c462a" /><Relationship Type="http://schemas.openxmlformats.org/officeDocument/2006/relationships/chart" Target="/ppt/slides/charts/chart1.xml" Id="R142943e8014c44cf" /><Relationship Type="http://schemas.openxmlformats.org/officeDocument/2006/relationships/notesSlide" Target="/ppt/notesSlides/notesSlide4.xml" Id="R804432e15dbb44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41a0703da74b1a" /><Relationship Type="http://schemas.openxmlformats.org/officeDocument/2006/relationships/notesSlide" Target="/ppt/notesSlides/notesSlide5.xml" Id="R4ff2df2803324b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63e5a7cc794c26" /><Relationship Type="http://schemas.openxmlformats.org/officeDocument/2006/relationships/notesSlide" Target="/ppt/notesSlides/notesSlide6.xml" Id="R274f800b4a5449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559dd7e98d4a99" /><Relationship Type="http://schemas.openxmlformats.org/officeDocument/2006/relationships/hyperlink" Target="https://doi.org/10.13026/aw6y-fc44" TargetMode="External" Id="R79a86f7d05cd4bf3" /><Relationship Type="http://schemas.openxmlformats.org/officeDocument/2006/relationships/hyperlink" Target="https://doi.org/10.5281/zenodo.21468410" TargetMode="External" Id="Rd7dfb856d5524928" /><Relationship Type="http://schemas.openxmlformats.org/officeDocument/2006/relationships/hyperlink" Target="https://doi.org/10.1038/s41746-021-00465-w" TargetMode="External" Id="R2b25d1e4c96a40ef" /><Relationship Type="http://schemas.openxmlformats.org/officeDocument/2006/relationships/hyperlink" Target="https://doi.org/10.1038/s44360-026-00096-z" TargetMode="External" Id="R6db9cf15a6af4baa" /><Relationship Type="http://schemas.openxmlformats.org/officeDocument/2006/relationships/notesSlide" Target="/ppt/notesSlides/notesSlide7.xml" Id="R0740b2935ab94f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A32"/>
                </a:solidFill>
                <a:latin typeface="Helvetica Neue"/>
                <a:ea typeface="Helvetica Neue"/>
                <a:cs typeface="Helvetica Neue"/>
              </a:rPr>
              <a:t>Held-out window accuracy</a:t>
            </a:r>
          </a:p>
        </c:rich>
      </c:tx>
      <c:overlay val="0"/>
      <c:txPr>
        <a:bodyPr xmlns:a="http://schemas.openxmlformats.org/drawingml/2006/main" anchorCtr="1"/>
        <a:lstStyle xmlns:a="http://schemas.openxmlformats.org/drawingml/2006/main"/>
        <a:p xmlns:a="http://schemas.openxmlformats.org/drawingml/2006/main">
          <a:pPr>
            <a:defRPr sz="1950" b="1">
              <a:solidFill>
                <a:srgbClr val="152A32"/>
              </a:solidFill>
              <a:latin typeface="Helvetica Neue"/>
              <a:ea typeface="Helvetica Neue"/>
              <a:cs typeface="Helvetica Neue"/>
            </a:defRPr>
          </a:pPr>
        </a:p>
      </c:txPr>
    </c:title>
    <c:plotArea>
      <c:barChart>
        <c:barDir val="col"/>
        <c:grouping val="clustered"/>
        <c:varyColors val="0"/>
        <c:ser>
          <c:idx val="0"/>
          <c:order val="0"/>
          <c:tx>
            <c:v>Participant-weighted window accuracy (rounded for display)</c:v>
          </c:tx>
          <c:spPr>
            <a:solidFill xmlns:a="http://schemas.openxmlformats.org/drawingml/2006/main">
              <a:srgbClr val="087D6E"/>
            </a:solidFill>
            <a:ln xmlns:a="http://schemas.openxmlformats.org/drawingml/2006/main" w="0">
              <a:noFill/>
            </a:ln>
          </c:spPr>
          <c:dPt>
            <c:idx val="0"/>
            <c:invertIfNegative val="0"/>
            <c:spPr>
              <a:solidFill xmlns:a="http://schemas.openxmlformats.org/drawingml/2006/main">
                <a:srgbClr val="8BA1A6"/>
              </a:solidFill>
              <a:ln xmlns:a="http://schemas.openxmlformats.org/drawingml/2006/main" w="0">
                <a:noFill/>
              </a:ln>
            </c:spPr>
          </c:dPt>
          <c:dPt>
            <c:idx val="1"/>
            <c:invertIfNegative val="0"/>
            <c:spPr>
              <a:solidFill xmlns:a="http://schemas.openxmlformats.org/drawingml/2006/main">
                <a:srgbClr val="087D6E"/>
              </a:solidFill>
              <a:ln xmlns:a="http://schemas.openxmlformats.org/drawingml/2006/main" w="0">
                <a:noFill/>
              </a:ln>
            </c:spPr>
          </c:dPt>
          <c:cat>
            <c:strRef>
              <c:f>'Chart Data'!$A$2:$A$3</c:f>
              <c:strCache>
                <c:ptCount val="2"/>
                <c:pt idx="0">
                  <c:v>Prior baseline</c:v>
                </c:pt>
                <c:pt idx="1">
                  <c:v>Wearable model</c:v>
                </c:pt>
              </c:strCache>
            </c:strRef>
          </c:cat>
          <c:val>
            <c:numRef>
              <c:f>'Chart Data'!$B$2:$B$3</c:f>
              <c:numCache>
                <c:formatCode>0.0%</c:formatCode>
                <c:ptCount val="2"/>
                <c:pt idx="0">
                  <c:v>0.533</c:v>
                </c:pt>
                <c:pt idx="1">
                  <c:v>0.604</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152A32"/>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D9"/>
            </a:solidFill>
          </a:ln>
        </c:spPr>
        <c:txPr>
          <a:bodyPr xmlns:a="http://schemas.openxmlformats.org/drawingml/2006/main" anchorCtr="1"/>
          <a:lstStyle xmlns:a="http://schemas.openxmlformats.org/drawingml/2006/main"/>
          <a:p xmlns:a="http://schemas.openxmlformats.org/drawingml/2006/main">
            <a:pPr>
              <a:defRPr sz="1650">
                <a:solidFill>
                  <a:srgbClr val="152A32"/>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5DE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97079"/>
                </a:solidFill>
                <a:latin typeface="Helvetica Neue"/>
                <a:ea typeface="Helvetica Neue"/>
                <a:cs typeface="Helvetica Neue"/>
              </a:defRPr>
            </a:pPr>
          </a:p>
        </c:txPr>
        <c:crossAx val="48650112"/>
        <c:crossBetween val="between"/>
        <c:majorUnit val="0.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C171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3f3ec0e86034db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WOLFHACKS 2026">
            <a:extLst xmlns:a="http://schemas.openxmlformats.org/drawingml/2006/main">
              <a:ext uri="{FF2B5EF4-FFF2-40B4-BE49-F238E27FC236}">
                <a16:creationId xmlns:a16="http://schemas.microsoft.com/office/drawing/2014/main" id="{2DE0326D-95C3-4386-8149-79792275F66A}"/>
              </a:ext>
            </a:extLst>
          </p:cNvPr>
          <p:cNvSpPr>
            <a:spLocks xmlns:a="http://schemas.openxmlformats.org/drawingml/2006/main" noGrp="1"/>
          </p:cNvSpPr>
          <p:nvPr/>
        </p:nvSpPr>
        <p:spPr>
          <a:xfrm xmlns:a="http://schemas.openxmlformats.org/drawingml/2006/main">
            <a:off x="609600" y="52387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ADBDC1"/>
                </a:solidFill>
                <a:latin typeface="Helvetica Neue"/>
                <a:ea typeface="Helvetica Neue"/>
                <a:cs typeface="Helvetica Neue"/>
              </a:defRPr>
            </a:pPr>
            <a:r>
              <a:rPr sz="1500" b="0">
                <a:solidFill>
                  <a:srgbClr val="ADBDC1"/>
                </a:solidFill>
                <a:latin typeface="Helvetica Neue"/>
                <a:ea typeface="Helvetica Neue"/>
                <a:cs typeface="Helvetica Neue"/>
              </a:rPr>
              <a:t>WOLFHACKS 2026</a:t>
            </a:r>
          </a:p>
        </p:txBody>
      </p:sp>
      <p:sp>
        <p:nvSpPr>
          <p:cNvPr id="3" name="Glue4Glu">
            <a:extLst xmlns:a="http://schemas.openxmlformats.org/drawingml/2006/main">
              <a:ext uri="{FF2B5EF4-FFF2-40B4-BE49-F238E27FC236}">
                <a16:creationId xmlns:a16="http://schemas.microsoft.com/office/drawing/2014/main" id="{BD0DA646-7DB6-497C-9A84-3C82CCEBB3C1}"/>
              </a:ext>
            </a:extLst>
          </p:cNvPr>
          <p:cNvSpPr>
            <a:spLocks xmlns:a="http://schemas.openxmlformats.org/drawingml/2006/main" noGrp="1"/>
          </p:cNvSpPr>
          <p:nvPr/>
        </p:nvSpPr>
        <p:spPr>
          <a:xfrm xmlns:a="http://schemas.openxmlformats.org/drawingml/2006/main">
            <a:off x="571500" y="1685925"/>
            <a:ext cx="8953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8100" b="1">
                <a:solidFill>
                  <a:srgbClr val="F8FAF7"/>
                </a:solidFill>
                <a:latin typeface="Helvetica Neue"/>
                <a:ea typeface="Helvetica Neue"/>
                <a:cs typeface="Helvetica Neue"/>
              </a:defRPr>
            </a:pPr>
            <a:r>
              <a:rPr sz="8100" b="1">
                <a:solidFill>
                  <a:srgbClr val="F8FAF7"/>
                </a:solidFill>
                <a:latin typeface="Helvetica Neue"/>
                <a:ea typeface="Helvetica Neue"/>
                <a:cs typeface="Helvetica Neue"/>
              </a:rPr>
              <a:t>Glue4Glu</a:t>
            </a:r>
          </a:p>
        </p:txBody>
      </p:sp>
      <p:sp>
        <p:nvSpPr>
          <p:cNvPr id="4" name="Wearable signals. Daily metabolic context.">
            <a:extLst xmlns:a="http://schemas.openxmlformats.org/drawingml/2006/main">
              <a:ext uri="{FF2B5EF4-FFF2-40B4-BE49-F238E27FC236}">
                <a16:creationId xmlns:a16="http://schemas.microsoft.com/office/drawing/2014/main" id="{190614C0-388E-4C81-A197-B9C1908373AA}"/>
              </a:ext>
            </a:extLst>
          </p:cNvPr>
          <p:cNvSpPr>
            <a:spLocks xmlns:a="http://schemas.openxmlformats.org/drawingml/2006/main" noGrp="1"/>
          </p:cNvSpPr>
          <p:nvPr/>
        </p:nvSpPr>
        <p:spPr>
          <a:xfrm xmlns:a="http://schemas.openxmlformats.org/drawingml/2006/main">
            <a:off x="628650" y="3248025"/>
            <a:ext cx="762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625" b="0">
                <a:solidFill>
                  <a:srgbClr val="F8FAF7"/>
                </a:solidFill>
                <a:latin typeface="Helvetica Neue"/>
                <a:ea typeface="Helvetica Neue"/>
                <a:cs typeface="Helvetica Neue"/>
              </a:defRPr>
            </a:pPr>
            <a:r>
              <a:rPr sz="2625" b="0">
                <a:solidFill>
                  <a:srgbClr val="F8FAF7"/>
                </a:solidFill>
                <a:latin typeface="Helvetica Neue"/>
                <a:ea typeface="Helvetica Neue"/>
                <a:cs typeface="Helvetica Neue"/>
              </a:rPr>
              <a:t>Wearable signals.</a:t>
            </a:r>
          </a:p>
          <a:p xmlns:a="http://schemas.openxmlformats.org/drawingml/2006/main">
            <a:pPr algn="l">
              <a:buNone/>
              <a:defRPr sz="2625" b="0">
                <a:solidFill>
                  <a:srgbClr val="F8FAF7"/>
                </a:solidFill>
                <a:latin typeface="Helvetica Neue"/>
                <a:ea typeface="Helvetica Neue"/>
                <a:cs typeface="Helvetica Neue"/>
              </a:defRPr>
            </a:pPr>
            <a:r>
              <a:rPr sz="2625" b="0">
                <a:solidFill>
                  <a:srgbClr val="F8FAF7"/>
                </a:solidFill>
                <a:latin typeface="Helvetica Neue"/>
                <a:ea typeface="Helvetica Neue"/>
                <a:cs typeface="Helvetica Neue"/>
              </a:rPr>
              <a:t>Daily metabolic context.</a:t>
            </a:r>
          </a:p>
        </p:txBody>
      </p:sp>
      <p:sp>
        <p:nvSpPr>
          <p:cNvPr id="5" name="1s">
            <a:extLst xmlns:a="http://schemas.openxmlformats.org/drawingml/2006/main">
              <a:ext uri="{FF2B5EF4-FFF2-40B4-BE49-F238E27FC236}">
                <a16:creationId xmlns:a16="http://schemas.microsoft.com/office/drawing/2014/main" id="{E3DD1391-90B2-4FF8-AB03-F09CE2A91D28}"/>
              </a:ext>
            </a:extLst>
          </p:cNvPr>
          <p:cNvSpPr>
            <a:spLocks xmlns:a="http://schemas.openxmlformats.org/drawingml/2006/main" noGrp="1"/>
          </p:cNvSpPr>
          <p:nvPr/>
        </p:nvSpPr>
        <p:spPr>
          <a:xfrm xmlns:a="http://schemas.openxmlformats.org/drawingml/2006/main">
            <a:off x="609600" y="4895850"/>
            <a:ext cx="226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600" b="1">
                <a:solidFill>
                  <a:srgbClr val="6DE0C0"/>
                </a:solidFill>
                <a:latin typeface="Helvetica Neue"/>
                <a:ea typeface="Helvetica Neue"/>
                <a:cs typeface="Helvetica Neue"/>
              </a:defRPr>
            </a:pPr>
            <a:r>
              <a:rPr sz="3600" b="1">
                <a:solidFill>
                  <a:srgbClr val="6DE0C0"/>
                </a:solidFill>
                <a:latin typeface="Helvetica Neue"/>
                <a:ea typeface="Helvetica Neue"/>
                <a:cs typeface="Helvetica Neue"/>
              </a:rPr>
              <a:t>1s</a:t>
            </a:r>
          </a:p>
        </p:txBody>
      </p:sp>
      <p:sp>
        <p:nvSpPr>
          <p:cNvPr id="6" name="Live sensor feed">
            <a:extLst xmlns:a="http://schemas.openxmlformats.org/drawingml/2006/main">
              <a:ext uri="{FF2B5EF4-FFF2-40B4-BE49-F238E27FC236}">
                <a16:creationId xmlns:a16="http://schemas.microsoft.com/office/drawing/2014/main" id="{E187B003-5406-485C-8B75-090B2770331C}"/>
              </a:ext>
            </a:extLst>
          </p:cNvPr>
          <p:cNvSpPr>
            <a:spLocks xmlns:a="http://schemas.openxmlformats.org/drawingml/2006/main" noGrp="1"/>
          </p:cNvSpPr>
          <p:nvPr/>
        </p:nvSpPr>
        <p:spPr>
          <a:xfrm xmlns:a="http://schemas.openxmlformats.org/drawingml/2006/main">
            <a:off x="628650" y="552450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0">
                <a:solidFill>
                  <a:srgbClr val="ADBDC1"/>
                </a:solidFill>
                <a:latin typeface="Helvetica Neue"/>
                <a:ea typeface="Helvetica Neue"/>
                <a:cs typeface="Helvetica Neue"/>
              </a:defRPr>
            </a:pPr>
            <a:r>
              <a:rPr sz="1650" b="0">
                <a:solidFill>
                  <a:srgbClr val="ADBDC1"/>
                </a:solidFill>
                <a:latin typeface="Helvetica Neue"/>
                <a:ea typeface="Helvetica Neue"/>
                <a:cs typeface="Helvetica Neue"/>
              </a:rPr>
              <a:t>Live sensor feed</a:t>
            </a:r>
          </a:p>
        </p:txBody>
      </p:sp>
      <p:sp>
        <p:nvSpPr>
          <p:cNvPr id="7" name="24h">
            <a:extLst xmlns:a="http://schemas.openxmlformats.org/drawingml/2006/main">
              <a:ext uri="{FF2B5EF4-FFF2-40B4-BE49-F238E27FC236}">
                <a16:creationId xmlns:a16="http://schemas.microsoft.com/office/drawing/2014/main" id="{C0776306-9EC4-416B-8A95-12240818FA56}"/>
              </a:ext>
            </a:extLst>
          </p:cNvPr>
          <p:cNvSpPr>
            <a:spLocks xmlns:a="http://schemas.openxmlformats.org/drawingml/2006/main" noGrp="1"/>
          </p:cNvSpPr>
          <p:nvPr/>
        </p:nvSpPr>
        <p:spPr>
          <a:xfrm xmlns:a="http://schemas.openxmlformats.org/drawingml/2006/main">
            <a:off x="3114675" y="4895850"/>
            <a:ext cx="226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600" b="1">
                <a:solidFill>
                  <a:srgbClr val="6DE0C0"/>
                </a:solidFill>
                <a:latin typeface="Helvetica Neue"/>
                <a:ea typeface="Helvetica Neue"/>
                <a:cs typeface="Helvetica Neue"/>
              </a:defRPr>
            </a:pPr>
            <a:r>
              <a:rPr sz="3600" b="1">
                <a:solidFill>
                  <a:srgbClr val="6DE0C0"/>
                </a:solidFill>
                <a:latin typeface="Helvetica Neue"/>
                <a:ea typeface="Helvetica Neue"/>
                <a:cs typeface="Helvetica Neue"/>
              </a:rPr>
              <a:t>24h</a:t>
            </a:r>
          </a:p>
        </p:txBody>
      </p:sp>
      <p:sp>
        <p:nvSpPr>
          <p:cNvPr id="8" name="Rolling context">
            <a:extLst xmlns:a="http://schemas.openxmlformats.org/drawingml/2006/main">
              <a:ext uri="{FF2B5EF4-FFF2-40B4-BE49-F238E27FC236}">
                <a16:creationId xmlns:a16="http://schemas.microsoft.com/office/drawing/2014/main" id="{819C9800-2B5F-4D9B-A34E-EE2F2C674A84}"/>
              </a:ext>
            </a:extLst>
          </p:cNvPr>
          <p:cNvSpPr>
            <a:spLocks xmlns:a="http://schemas.openxmlformats.org/drawingml/2006/main" noGrp="1"/>
          </p:cNvSpPr>
          <p:nvPr/>
        </p:nvSpPr>
        <p:spPr>
          <a:xfrm xmlns:a="http://schemas.openxmlformats.org/drawingml/2006/main">
            <a:off x="3133725" y="552450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0">
                <a:solidFill>
                  <a:srgbClr val="ADBDC1"/>
                </a:solidFill>
                <a:latin typeface="Helvetica Neue"/>
                <a:ea typeface="Helvetica Neue"/>
                <a:cs typeface="Helvetica Neue"/>
              </a:defRPr>
            </a:pPr>
            <a:r>
              <a:rPr sz="1650" b="0">
                <a:solidFill>
                  <a:srgbClr val="ADBDC1"/>
                </a:solidFill>
                <a:latin typeface="Helvetica Neue"/>
                <a:ea typeface="Helvetica Neue"/>
                <a:cs typeface="Helvetica Neue"/>
              </a:rPr>
              <a:t>Rolling context</a:t>
            </a:r>
          </a:p>
        </p:txBody>
      </p:sp>
      <p:sp>
        <p:nvSpPr>
          <p:cNvPr id="9" name="7d">
            <a:extLst xmlns:a="http://schemas.openxmlformats.org/drawingml/2006/main">
              <a:ext uri="{FF2B5EF4-FFF2-40B4-BE49-F238E27FC236}">
                <a16:creationId xmlns:a16="http://schemas.microsoft.com/office/drawing/2014/main" id="{4B29FB72-54C7-4D37-9D90-908DF611BFA3}"/>
              </a:ext>
            </a:extLst>
          </p:cNvPr>
          <p:cNvSpPr>
            <a:spLocks xmlns:a="http://schemas.openxmlformats.org/drawingml/2006/main" noGrp="1"/>
          </p:cNvSpPr>
          <p:nvPr/>
        </p:nvSpPr>
        <p:spPr>
          <a:xfrm xmlns:a="http://schemas.openxmlformats.org/drawingml/2006/main">
            <a:off x="5619750" y="4895850"/>
            <a:ext cx="226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600" b="1">
                <a:solidFill>
                  <a:srgbClr val="6DE0C0"/>
                </a:solidFill>
                <a:latin typeface="Helvetica Neue"/>
                <a:ea typeface="Helvetica Neue"/>
                <a:cs typeface="Helvetica Neue"/>
              </a:defRPr>
            </a:pPr>
            <a:r>
              <a:rPr sz="3600" b="1">
                <a:solidFill>
                  <a:srgbClr val="6DE0C0"/>
                </a:solidFill>
                <a:latin typeface="Helvetica Neue"/>
                <a:ea typeface="Helvetica Neue"/>
                <a:cs typeface="Helvetica Neue"/>
              </a:rPr>
              <a:t>7d</a:t>
            </a:r>
          </a:p>
        </p:txBody>
      </p:sp>
      <p:sp>
        <p:nvSpPr>
          <p:cNvPr id="10" name="Trend history">
            <a:extLst xmlns:a="http://schemas.openxmlformats.org/drawingml/2006/main">
              <a:ext uri="{FF2B5EF4-FFF2-40B4-BE49-F238E27FC236}">
                <a16:creationId xmlns:a16="http://schemas.microsoft.com/office/drawing/2014/main" id="{37D2BFCE-9C02-4F7C-938F-F1C2D38FFD92}"/>
              </a:ext>
            </a:extLst>
          </p:cNvPr>
          <p:cNvSpPr>
            <a:spLocks xmlns:a="http://schemas.openxmlformats.org/drawingml/2006/main" noGrp="1"/>
          </p:cNvSpPr>
          <p:nvPr/>
        </p:nvSpPr>
        <p:spPr>
          <a:xfrm xmlns:a="http://schemas.openxmlformats.org/drawingml/2006/main">
            <a:off x="5638800" y="552450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0">
                <a:solidFill>
                  <a:srgbClr val="ADBDC1"/>
                </a:solidFill>
                <a:latin typeface="Helvetica Neue"/>
                <a:ea typeface="Helvetica Neue"/>
                <a:cs typeface="Helvetica Neue"/>
              </a:defRPr>
            </a:pPr>
            <a:r>
              <a:rPr sz="1650" b="0">
                <a:solidFill>
                  <a:srgbClr val="ADBDC1"/>
                </a:solidFill>
                <a:latin typeface="Helvetica Neue"/>
                <a:ea typeface="Helvetica Neue"/>
                <a:cs typeface="Helvetica Neue"/>
              </a:rPr>
              <a:t>Trend history</a:t>
            </a:r>
          </a:p>
        </p:txBody>
      </p:sp>
      <p:sp>
        <p:nvSpPr>
          <p:cNvPr id="11" name="Research prototype with labeled simulated data">
            <a:extLst xmlns:a="http://schemas.openxmlformats.org/drawingml/2006/main">
              <a:ext uri="{FF2B5EF4-FFF2-40B4-BE49-F238E27FC236}">
                <a16:creationId xmlns:a16="http://schemas.microsoft.com/office/drawing/2014/main" id="{E9DC0259-93C4-44E2-87D7-61800E058AC5}"/>
              </a:ext>
            </a:extLst>
          </p:cNvPr>
          <p:cNvSpPr>
            <a:spLocks xmlns:a="http://schemas.openxmlformats.org/drawingml/2006/main" noGrp="1"/>
          </p:cNvSpPr>
          <p:nvPr/>
        </p:nvSpPr>
        <p:spPr>
          <a:xfrm xmlns:a="http://schemas.openxmlformats.org/drawingml/2006/main">
            <a:off x="6286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0">
                <a:solidFill>
                  <a:srgbClr val="ADBDC1"/>
                </a:solidFill>
                <a:latin typeface="Helvetica Neue"/>
                <a:ea typeface="Helvetica Neue"/>
                <a:cs typeface="Helvetica Neue"/>
              </a:defRPr>
            </a:pPr>
            <a:r>
              <a:rPr sz="1350" b="0">
                <a:solidFill>
                  <a:srgbClr val="ADBDC1"/>
                </a:solidFill>
                <a:latin typeface="Helvetica Neue"/>
                <a:ea typeface="Helvetica Neue"/>
                <a:cs typeface="Helvetica Neue"/>
              </a:rPr>
              <a:t>Research prototype with labeled simulated data</a:t>
            </a:r>
          </a:p>
        </p:txBody>
      </p:sp>
    </p:spTree>
    <p:extLst>
      <p:ext uri="{BB962C8B-B14F-4D97-AF65-F5344CB8AC3E}">
        <p14:creationId xmlns:p14="http://schemas.microsoft.com/office/powerpoint/2010/main" val="1333923936"/>
      </p:ext>
    </p:extLst>
  </p:cSld>
</p:sld>
</file>

<file path=ppt/slides/slide2.xml><?xml version="1.0" encoding="utf-8"?>
<p:sld xmlns:p="http://schemas.openxmlformats.org/presentationml/2006/main">
  <p:cSld>
    <p:bg>
      <p:bgPr>
        <a:solidFill xmlns:a="http://schemas.openxmlformats.org/drawingml/2006/main">
          <a:srgbClr val="0C171C"/>
        </a:solidFill>
      </p:bgPr>
    </p:bg>
    <p:spTree>
      <p:nvGrpSpPr>
        <p:cNvPr id="1" name=""/>
        <p:cNvGrpSpPr/>
        <p:nvPr/>
      </p:nvGrpSpPr>
      <p:grpSpPr>
        <a:xfrm xmlns:a="http://schemas.openxmlformats.org/drawingml/2006/main"/>
      </p:grpSpPr>
      <p:sp>
        <p:nvSpPr>
          <p:cNvPr id="10" name="Data at research scale">
            <a:extLst xmlns:a="http://schemas.openxmlformats.org/drawingml/2006/main">
              <a:ext uri="{FF2B5EF4-FFF2-40B4-BE49-F238E27FC236}">
                <a16:creationId xmlns:a16="http://schemas.microsoft.com/office/drawing/2014/main" id="{628598FD-1E57-42C6-A56F-7F3027F7B47F}"/>
              </a:ext>
            </a:extLst>
          </p:cNvPr>
          <p:cNvSpPr>
            <a:spLocks xmlns:a="http://schemas.openxmlformats.org/drawingml/2006/main" noGrp="1"/>
          </p:cNvSpPr>
          <p:nvPr/>
        </p:nvSpPr>
        <p:spPr>
          <a:xfrm xmlns:a="http://schemas.openxmlformats.org/drawingml/2006/main">
            <a:off x="609600" y="4953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450" b="1">
                <a:solidFill>
                  <a:srgbClr val="F8FAF7"/>
                </a:solidFill>
                <a:latin typeface="Helvetica Neue"/>
                <a:ea typeface="Helvetica Neue"/>
                <a:cs typeface="Helvetica Neue"/>
              </a:defRPr>
            </a:pPr>
            <a:r>
              <a:rPr sz="3450" b="1">
                <a:solidFill>
                  <a:srgbClr val="F8FAF7"/>
                </a:solidFill>
                <a:latin typeface="Helvetica Neue"/>
                <a:ea typeface="Helvetica Neue"/>
                <a:cs typeface="Helvetica Neue"/>
              </a:rPr>
              <a:t>Data at research scale</a:t>
            </a:r>
          </a:p>
        </p:txBody>
      </p:sp>
      <p:sp>
        <p:nvSpPr>
          <p:cNvPr id="2" name="Two independent studies. One shared wearable feature pipeline.">
            <a:extLst xmlns:a="http://schemas.openxmlformats.org/drawingml/2006/main">
              <a:ext uri="{FF2B5EF4-FFF2-40B4-BE49-F238E27FC236}">
                <a16:creationId xmlns:a16="http://schemas.microsoft.com/office/drawing/2014/main" id="{2AA14898-B1E3-48A8-826F-7CEA3C9E45BB}"/>
              </a:ext>
            </a:extLst>
          </p:cNvPr>
          <p:cNvSpPr>
            <a:spLocks xmlns:a="http://schemas.openxmlformats.org/drawingml/2006/main" noGrp="1"/>
          </p:cNvSpPr>
          <p:nvPr/>
        </p:nvSpPr>
        <p:spPr>
          <a:xfrm xmlns:a="http://schemas.openxmlformats.org/drawingml/2006/main">
            <a:off x="628650" y="11811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ADBDC1"/>
                </a:solidFill>
                <a:latin typeface="Helvetica Neue"/>
                <a:ea typeface="Helvetica Neue"/>
                <a:cs typeface="Helvetica Neue"/>
              </a:defRPr>
            </a:pPr>
            <a:r>
              <a:rPr sz="1800" b="0">
                <a:solidFill>
                  <a:srgbClr val="ADBDC1"/>
                </a:solidFill>
                <a:latin typeface="Helvetica Neue"/>
                <a:ea typeface="Helvetica Neue"/>
                <a:cs typeface="Helvetica Neue"/>
              </a:rPr>
              <a:t>Two independent studies. One shared wearable feature pipeline.</a:t>
            </a:r>
          </a:p>
        </p:txBody>
      </p:sp>
      <p:sp>
        <p:nvSpPr>
          <p:cNvPr id="3" name="02">
            <a:extLst xmlns:a="http://schemas.openxmlformats.org/drawingml/2006/main">
              <a:ext uri="{FF2B5EF4-FFF2-40B4-BE49-F238E27FC236}">
                <a16:creationId xmlns:a16="http://schemas.microsoft.com/office/drawing/2014/main" id="{8D511B9C-5C39-492F-9160-2DEA0774A3F2}"/>
              </a:ext>
            </a:extLst>
          </p:cNvPr>
          <p:cNvSpPr>
            <a:spLocks xmlns:a="http://schemas.openxmlformats.org/drawingml/2006/main" noGrp="1"/>
          </p:cNvSpPr>
          <p:nvPr/>
        </p:nvSpPr>
        <p:spPr>
          <a:xfrm xmlns:a="http://schemas.openxmlformats.org/drawingml/2006/main">
            <a:off x="11144250" y="63627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350" b="0">
                <a:solidFill>
                  <a:srgbClr val="ADBDC1"/>
                </a:solidFill>
                <a:latin typeface="Helvetica Neue"/>
                <a:ea typeface="Helvetica Neue"/>
                <a:cs typeface="Helvetica Neue"/>
              </a:defRPr>
            </a:pPr>
            <a:r>
              <a:rPr sz="1350" b="0">
                <a:solidFill>
                  <a:srgbClr val="ADBDC1"/>
                </a:solidFill>
                <a:latin typeface="Helvetica Neue"/>
                <a:ea typeface="Helvetica Neue"/>
                <a:cs typeface="Helvetica Neue"/>
              </a:rPr>
              <a:t>02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5d1e4dbad14fc7"/>
          <a:stretch xmlns:a="http://schemas.openxmlformats.org/drawingml/2006/main"/>
        </p:blipFill>
        <p:spPr>
          <a:xfrm xmlns:a="http://schemas.openxmlformats.org/drawingml/2006/main">
            <a:off x="609600" y="1657784"/>
            <a:ext cx="8420100" cy="4894982"/>
          </a:xfrm>
          <a:prstGeom xmlns:a="http://schemas.openxmlformats.org/drawingml/2006/main" prst="rect">
            <a:avLst/>
          </a:prstGeom>
        </p:spPr>
      </p:pic>
      <p:sp>
        <p:nvSpPr>
          <p:cNvPr id="5" name="3.03B">
            <a:extLst xmlns:a="http://schemas.openxmlformats.org/drawingml/2006/main">
              <a:ext uri="{FF2B5EF4-FFF2-40B4-BE49-F238E27FC236}">
                <a16:creationId xmlns:a16="http://schemas.microsoft.com/office/drawing/2014/main" id="{206FCE30-92E0-47D8-9D8F-F41EEE26885D}"/>
              </a:ext>
            </a:extLst>
          </p:cNvPr>
          <p:cNvSpPr>
            <a:spLocks xmlns:a="http://schemas.openxmlformats.org/drawingml/2006/main" noGrp="1"/>
          </p:cNvSpPr>
          <p:nvPr/>
        </p:nvSpPr>
        <p:spPr>
          <a:xfrm xmlns:a="http://schemas.openxmlformats.org/drawingml/2006/main">
            <a:off x="9448800" y="2000250"/>
            <a:ext cx="223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5025" b="1">
                <a:solidFill>
                  <a:srgbClr val="6DE0C0"/>
                </a:solidFill>
                <a:latin typeface="Helvetica Neue"/>
                <a:ea typeface="Helvetica Neue"/>
                <a:cs typeface="Helvetica Neue"/>
              </a:defRPr>
            </a:pPr>
            <a:r>
              <a:rPr sz="5025" b="1">
                <a:solidFill>
                  <a:srgbClr val="6DE0C0"/>
                </a:solidFill>
                <a:latin typeface="Helvetica Neue"/>
                <a:ea typeface="Helvetica Neue"/>
                <a:cs typeface="Helvetica Neue"/>
              </a:rPr>
              <a:t>3.03B</a:t>
            </a:r>
          </a:p>
        </p:txBody>
      </p:sp>
      <p:sp>
        <p:nvSpPr>
          <p:cNvPr id="6" name="IMU50 acceleration rows prepared">
            <a:extLst xmlns:a="http://schemas.openxmlformats.org/drawingml/2006/main">
              <a:ext uri="{FF2B5EF4-FFF2-40B4-BE49-F238E27FC236}">
                <a16:creationId xmlns:a16="http://schemas.microsoft.com/office/drawing/2014/main" id="{E3F0AFBB-BC6B-48FE-91CE-00E2D5488768}"/>
              </a:ext>
            </a:extLst>
          </p:cNvPr>
          <p:cNvSpPr>
            <a:spLocks xmlns:a="http://schemas.openxmlformats.org/drawingml/2006/main" noGrp="1"/>
          </p:cNvSpPr>
          <p:nvPr/>
        </p:nvSpPr>
        <p:spPr>
          <a:xfrm xmlns:a="http://schemas.openxmlformats.org/drawingml/2006/main">
            <a:off x="9486900" y="291465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ADBDC1"/>
                </a:solidFill>
                <a:latin typeface="Helvetica Neue"/>
                <a:ea typeface="Helvetica Neue"/>
                <a:cs typeface="Helvetica Neue"/>
              </a:defRPr>
            </a:pPr>
            <a:r>
              <a:rPr sz="1725" b="0">
                <a:solidFill>
                  <a:srgbClr val="ADBDC1"/>
                </a:solidFill>
                <a:latin typeface="Helvetica Neue"/>
                <a:ea typeface="Helvetica Neue"/>
                <a:cs typeface="Helvetica Neue"/>
              </a:rPr>
              <a:t>IMU50 acceleration</a:t>
            </a:r>
          </a:p>
          <a:p xmlns:a="http://schemas.openxmlformats.org/drawingml/2006/main">
            <a:pPr algn="l">
              <a:buNone/>
              <a:defRPr sz="1725" b="0">
                <a:solidFill>
                  <a:srgbClr val="ADBDC1"/>
                </a:solidFill>
                <a:latin typeface="Helvetica Neue"/>
                <a:ea typeface="Helvetica Neue"/>
                <a:cs typeface="Helvetica Neue"/>
              </a:defRPr>
            </a:pPr>
            <a:r>
              <a:rPr sz="1725" b="0">
                <a:solidFill>
                  <a:srgbClr val="ADBDC1"/>
                </a:solidFill>
                <a:latin typeface="Helvetica Neue"/>
                <a:ea typeface="Helvetica Neue"/>
                <a:cs typeface="Helvetica Neue"/>
              </a:rPr>
              <a:t>rows prepared</a:t>
            </a:r>
          </a:p>
        </p:txBody>
      </p:sp>
      <p:sp>
        <p:nvSpPr>
          <p:cNvPr id="7" name="66">
            <a:extLst xmlns:a="http://schemas.openxmlformats.org/drawingml/2006/main">
              <a:ext uri="{FF2B5EF4-FFF2-40B4-BE49-F238E27FC236}">
                <a16:creationId xmlns:a16="http://schemas.microsoft.com/office/drawing/2014/main" id="{C64BE8BC-6634-465B-9C85-7505F8A89787}"/>
              </a:ext>
            </a:extLst>
          </p:cNvPr>
          <p:cNvSpPr>
            <a:spLocks xmlns:a="http://schemas.openxmlformats.org/drawingml/2006/main" noGrp="1"/>
          </p:cNvSpPr>
          <p:nvPr/>
        </p:nvSpPr>
        <p:spPr>
          <a:xfrm xmlns:a="http://schemas.openxmlformats.org/drawingml/2006/main">
            <a:off x="9448800" y="4276725"/>
            <a:ext cx="2143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5025" b="1">
                <a:solidFill>
                  <a:srgbClr val="F8FAF7"/>
                </a:solidFill>
                <a:latin typeface="Helvetica Neue"/>
                <a:ea typeface="Helvetica Neue"/>
                <a:cs typeface="Helvetica Neue"/>
              </a:defRPr>
            </a:pPr>
            <a:r>
              <a:rPr sz="5025" b="1">
                <a:solidFill>
                  <a:srgbClr val="F8FAF7"/>
                </a:solidFill>
                <a:latin typeface="Helvetica Neue"/>
                <a:ea typeface="Helvetica Neue"/>
                <a:cs typeface="Helvetica Neue"/>
              </a:rPr>
              <a:t>66</a:t>
            </a:r>
          </a:p>
        </p:txBody>
      </p:sp>
      <p:sp>
        <p:nvSpPr>
          <p:cNvPr id="8" name="Demo participants 16 BIG IDEAs + 50 IMU50">
            <a:extLst xmlns:a="http://schemas.openxmlformats.org/drawingml/2006/main">
              <a:ext uri="{FF2B5EF4-FFF2-40B4-BE49-F238E27FC236}">
                <a16:creationId xmlns:a16="http://schemas.microsoft.com/office/drawing/2014/main" id="{80B7F791-49F9-40EC-8F02-FEB46BD48311}"/>
              </a:ext>
            </a:extLst>
          </p:cNvPr>
          <p:cNvSpPr>
            <a:spLocks xmlns:a="http://schemas.openxmlformats.org/drawingml/2006/main" noGrp="1"/>
          </p:cNvSpPr>
          <p:nvPr/>
        </p:nvSpPr>
        <p:spPr>
          <a:xfrm xmlns:a="http://schemas.openxmlformats.org/drawingml/2006/main">
            <a:off x="9486900" y="5191125"/>
            <a:ext cx="20764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0">
                <a:solidFill>
                  <a:srgbClr val="ADBDC1"/>
                </a:solidFill>
                <a:latin typeface="Helvetica Neue"/>
                <a:ea typeface="Helvetica Neue"/>
                <a:cs typeface="Helvetica Neue"/>
              </a:defRPr>
            </a:pPr>
            <a:r>
              <a:rPr sz="1650" b="0">
                <a:solidFill>
                  <a:srgbClr val="ADBDC1"/>
                </a:solidFill>
                <a:latin typeface="Helvetica Neue"/>
                <a:ea typeface="Helvetica Neue"/>
                <a:cs typeface="Helvetica Neue"/>
              </a:rPr>
              <a:t>Demo participants</a:t>
            </a:r>
          </a:p>
          <a:p xmlns:a="http://schemas.openxmlformats.org/drawingml/2006/main">
            <a:pPr algn="l">
              <a:buNone/>
              <a:defRPr sz="1650" b="0">
                <a:solidFill>
                  <a:srgbClr val="ADBDC1"/>
                </a:solidFill>
                <a:latin typeface="Helvetica Neue"/>
                <a:ea typeface="Helvetica Neue"/>
                <a:cs typeface="Helvetica Neue"/>
              </a:defRPr>
            </a:pPr>
            <a:r>
              <a:rPr sz="1650" b="0">
                <a:solidFill>
                  <a:srgbClr val="ADBDC1"/>
                </a:solidFill>
                <a:latin typeface="Helvetica Neue"/>
                <a:ea typeface="Helvetica Neue"/>
                <a:cs typeface="Helvetica Neue"/>
              </a:rPr>
              <a:t>16 BIG IDEAs + 50 IMU50</a:t>
            </a:r>
          </a:p>
        </p:txBody>
      </p:sp>
      <p:sp>
        <p:nvSpPr>
          <p:cNvPr id="9" name="Historical pilot shown. Expanded cohort includes local preparation.">
            <a:extLst xmlns:a="http://schemas.openxmlformats.org/drawingml/2006/main">
              <a:ext uri="{FF2B5EF4-FFF2-40B4-BE49-F238E27FC236}">
                <a16:creationId xmlns:a16="http://schemas.microsoft.com/office/drawing/2014/main" id="{27508AD0-4EFB-4506-9BB2-1BB16B977180}"/>
              </a:ext>
            </a:extLst>
          </p:cNvPr>
          <p:cNvSpPr>
            <a:spLocks xmlns:a="http://schemas.openxmlformats.org/drawingml/2006/main" noGrp="1"/>
          </p:cNvSpPr>
          <p:nvPr/>
        </p:nvSpPr>
        <p:spPr>
          <a:xfrm xmlns:a="http://schemas.openxmlformats.org/drawingml/2006/main">
            <a:off x="609600" y="65627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0">
                <a:solidFill>
                  <a:srgbClr val="ADBDC1"/>
                </a:solidFill>
                <a:latin typeface="Helvetica Neue"/>
                <a:ea typeface="Helvetica Neue"/>
                <a:cs typeface="Helvetica Neue"/>
              </a:defRPr>
            </a:pPr>
            <a:r>
              <a:rPr sz="1275" b="0">
                <a:solidFill>
                  <a:srgbClr val="ADBDC1"/>
                </a:solidFill>
                <a:latin typeface="Helvetica Neue"/>
                <a:ea typeface="Helvetica Neue"/>
                <a:cs typeface="Helvetica Neue"/>
              </a:rPr>
              <a:t>Historical pilot shown. Expanded cohort includes local preparation.</a:t>
            </a:r>
          </a:p>
        </p:txBody>
      </p:sp>
    </p:spTree>
    <p:extLst>
      <p:ext uri="{BB962C8B-B14F-4D97-AF65-F5344CB8AC3E}">
        <p14:creationId xmlns:p14="http://schemas.microsoft.com/office/powerpoint/2010/main" val="124821764"/>
      </p:ext>
    </p:extLst>
  </p:cSld>
</p:sld>
</file>

<file path=ppt/slides/slide3.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35" name="System architecture">
            <a:extLst xmlns:a="http://schemas.openxmlformats.org/drawingml/2006/main">
              <a:ext uri="{FF2B5EF4-FFF2-40B4-BE49-F238E27FC236}">
                <a16:creationId xmlns:a16="http://schemas.microsoft.com/office/drawing/2014/main" id="{983FA4CD-6B94-437A-A6E6-4ED75E2CD448}"/>
              </a:ext>
            </a:extLst>
          </p:cNvPr>
          <p:cNvSpPr>
            <a:spLocks xmlns:a="http://schemas.openxmlformats.org/drawingml/2006/main" noGrp="1"/>
          </p:cNvSpPr>
          <p:nvPr/>
        </p:nvSpPr>
        <p:spPr>
          <a:xfrm xmlns:a="http://schemas.openxmlformats.org/drawingml/2006/main">
            <a:off x="609600" y="4953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450" b="1">
                <a:solidFill>
                  <a:srgbClr val="152A32"/>
                </a:solidFill>
                <a:latin typeface="Helvetica Neue"/>
                <a:ea typeface="Helvetica Neue"/>
                <a:cs typeface="Helvetica Neue"/>
              </a:defRPr>
            </a:pPr>
            <a:r>
              <a:rPr sz="3450" b="1">
                <a:solidFill>
                  <a:srgbClr val="152A32"/>
                </a:solidFill>
                <a:latin typeface="Helvetica Neue"/>
                <a:ea typeface="Helvetica Neue"/>
                <a:cs typeface="Helvetica Neue"/>
              </a:rPr>
              <a:t>System architecture</a:t>
            </a:r>
          </a:p>
        </p:txBody>
      </p:sp>
      <p:sp>
        <p:nvSpPr>
          <p:cNvPr id="2" name="Live readings and rolling analytics share one serving database">
            <a:extLst xmlns:a="http://schemas.openxmlformats.org/drawingml/2006/main">
              <a:ext uri="{FF2B5EF4-FFF2-40B4-BE49-F238E27FC236}">
                <a16:creationId xmlns:a16="http://schemas.microsoft.com/office/drawing/2014/main" id="{DCB6AA88-DEF4-46D4-BE3E-796C847C94CD}"/>
              </a:ext>
            </a:extLst>
          </p:cNvPr>
          <p:cNvSpPr>
            <a:spLocks xmlns:a="http://schemas.openxmlformats.org/drawingml/2006/main" noGrp="1"/>
          </p:cNvSpPr>
          <p:nvPr/>
        </p:nvSpPr>
        <p:spPr>
          <a:xfrm xmlns:a="http://schemas.openxmlformats.org/drawingml/2006/main">
            <a:off x="628650" y="11811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597079"/>
                </a:solidFill>
                <a:latin typeface="Helvetica Neue"/>
                <a:ea typeface="Helvetica Neue"/>
                <a:cs typeface="Helvetica Neue"/>
              </a:defRPr>
            </a:pPr>
            <a:r>
              <a:rPr sz="1800" b="0">
                <a:solidFill>
                  <a:srgbClr val="597079"/>
                </a:solidFill>
                <a:latin typeface="Helvetica Neue"/>
                <a:ea typeface="Helvetica Neue"/>
                <a:cs typeface="Helvetica Neue"/>
              </a:rPr>
              <a:t>Live readings and rolling analytics share one serving database</a:t>
            </a:r>
          </a:p>
        </p:txBody>
      </p:sp>
      <p:sp>
        <p:nvSpPr>
          <p:cNvPr id="3" name="03">
            <a:extLst xmlns:a="http://schemas.openxmlformats.org/drawingml/2006/main">
              <a:ext uri="{FF2B5EF4-FFF2-40B4-BE49-F238E27FC236}">
                <a16:creationId xmlns:a16="http://schemas.microsoft.com/office/drawing/2014/main" id="{8AB0B18A-3197-4178-B5EC-75818964C153}"/>
              </a:ext>
            </a:extLst>
          </p:cNvPr>
          <p:cNvSpPr>
            <a:spLocks xmlns:a="http://schemas.openxmlformats.org/drawingml/2006/main" noGrp="1"/>
          </p:cNvSpPr>
          <p:nvPr/>
        </p:nvSpPr>
        <p:spPr>
          <a:xfrm xmlns:a="http://schemas.openxmlformats.org/drawingml/2006/main">
            <a:off x="11144250" y="63627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350" b="0">
                <a:solidFill>
                  <a:srgbClr val="597079"/>
                </a:solidFill>
                <a:latin typeface="Helvetica Neue"/>
                <a:ea typeface="Helvetica Neue"/>
                <a:cs typeface="Helvetica Neue"/>
              </a:defRPr>
            </a:pPr>
            <a:r>
              <a:rPr sz="1350" b="0">
                <a:solidFill>
                  <a:srgbClr val="597079"/>
                </a:solidFill>
                <a:latin typeface="Helvetica Neue"/>
                <a:ea typeface="Helvetica Neue"/>
                <a:cs typeface="Helvetica Neue"/>
              </a:rPr>
              <a:t>03</a:t>
            </a:r>
          </a:p>
        </p:txBody>
      </p:sp>
      <p:sp>
        <p:nvSpPr>
          <p:cNvPr id="4" name="HISTORICAL PREPARATION">
            <a:extLst xmlns:a="http://schemas.openxmlformats.org/drawingml/2006/main">
              <a:ext uri="{FF2B5EF4-FFF2-40B4-BE49-F238E27FC236}">
                <a16:creationId xmlns:a16="http://schemas.microsoft.com/office/drawing/2014/main" id="{545305A7-09E0-4BB1-B111-55FC5E49F96E}"/>
              </a:ext>
            </a:extLst>
          </p:cNvPr>
          <p:cNvSpPr>
            <a:spLocks xmlns:a="http://schemas.openxmlformats.org/drawingml/2006/main" noGrp="1"/>
          </p:cNvSpPr>
          <p:nvPr/>
        </p:nvSpPr>
        <p:spPr>
          <a:xfrm xmlns:a="http://schemas.openxmlformats.org/drawingml/2006/main">
            <a:off x="609600" y="1819275"/>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0">
                <a:solidFill>
                  <a:srgbClr val="597079"/>
                </a:solidFill>
                <a:latin typeface="Helvetica Neue"/>
                <a:ea typeface="Helvetica Neue"/>
                <a:cs typeface="Helvetica Neue"/>
              </a:defRPr>
            </a:pPr>
            <a:r>
              <a:rPr sz="1350" b="0">
                <a:solidFill>
                  <a:srgbClr val="597079"/>
                </a:solidFill>
                <a:latin typeface="Helvetica Neue"/>
                <a:ea typeface="Helvetica Neue"/>
                <a:cs typeface="Helvetica Neue"/>
              </a:rPr>
              <a:t>HISTORICAL PREPARATION</a:t>
            </a:r>
          </a:p>
        </p:txBody>
      </p:sp>
      <p:sp>
        <p:nvSpPr>
          <p:cNvPr id="5" name="Study files">
            <a:extLst xmlns:a="http://schemas.openxmlformats.org/drawingml/2006/main">
              <a:ext uri="{FF2B5EF4-FFF2-40B4-BE49-F238E27FC236}">
                <a16:creationId xmlns:a16="http://schemas.microsoft.com/office/drawing/2014/main" id="{1728C26E-F684-48E6-95BC-C60176D7CA35}"/>
              </a:ext>
            </a:extLst>
          </p:cNvPr>
          <p:cNvSpPr>
            <a:spLocks xmlns:a="http://schemas.openxmlformats.org/drawingml/2006/main" noGrp="1"/>
          </p:cNvSpPr>
          <p:nvPr/>
        </p:nvSpPr>
        <p:spPr>
          <a:xfrm xmlns:a="http://schemas.openxmlformats.org/drawingml/2006/main">
            <a:off x="609600" y="2152650"/>
            <a:ext cx="2114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0" rIns="76200" bIns="228600" anchor="ctr">
            <a:noAutofit/>
          </a:bodyPr>
          <a:lstStyle xmlns:a="http://schemas.openxmlformats.org/drawingml/2006/main"/>
          <a:p xmlns:a="http://schemas.openxmlformats.org/drawingml/2006/main">
            <a:pPr algn="ctr">
              <a:buNone/>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Study files</a:t>
            </a:r>
          </a:p>
        </p:txBody>
      </p:sp>
      <p:sp>
        <p:nvSpPr>
          <p:cNvPr id="6" name="BIG IDEAs + IMU50">
            <a:extLst xmlns:a="http://schemas.openxmlformats.org/drawingml/2006/main">
              <a:ext uri="{FF2B5EF4-FFF2-40B4-BE49-F238E27FC236}">
                <a16:creationId xmlns:a16="http://schemas.microsoft.com/office/drawing/2014/main" id="{68DC1DA2-2957-4159-BD8A-6C3DFAE0AE15}"/>
              </a:ext>
            </a:extLst>
          </p:cNvPr>
          <p:cNvSpPr>
            <a:spLocks xmlns:a="http://schemas.openxmlformats.org/drawingml/2006/main" noGrp="1"/>
          </p:cNvSpPr>
          <p:nvPr/>
        </p:nvSpPr>
        <p:spPr>
          <a:xfrm xmlns:a="http://schemas.openxmlformats.org/drawingml/2006/main">
            <a:off x="628650" y="2581275"/>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BIG IDEAs + IMU50</a:t>
            </a:r>
          </a:p>
        </p:txBody>
      </p:sp>
      <p:sp>
        <p:nvSpPr>
          <p:cNvPr id="7" name="Databricks Volumes">
            <a:extLst xmlns:a="http://schemas.openxmlformats.org/drawingml/2006/main">
              <a:ext uri="{FF2B5EF4-FFF2-40B4-BE49-F238E27FC236}">
                <a16:creationId xmlns:a16="http://schemas.microsoft.com/office/drawing/2014/main" id="{CC2BF80B-7846-4052-A7AF-44FE54CDDA7D}"/>
              </a:ext>
            </a:extLst>
          </p:cNvPr>
          <p:cNvSpPr>
            <a:spLocks xmlns:a="http://schemas.openxmlformats.org/drawingml/2006/main" noGrp="1"/>
          </p:cNvSpPr>
          <p:nvPr/>
        </p:nvSpPr>
        <p:spPr>
          <a:xfrm xmlns:a="http://schemas.openxmlformats.org/drawingml/2006/main">
            <a:off x="3381375" y="2152650"/>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0" rIns="76200" bIns="228600" anchor="ctr">
            <a:noAutofit/>
          </a:bodyPr>
          <a:lstStyle xmlns:a="http://schemas.openxmlformats.org/drawingml/2006/main"/>
          <a:p xmlns:a="http://schemas.openxmlformats.org/drawingml/2006/main">
            <a:pPr algn="ctr">
              <a:buNone/>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Databricks Volumes</a:t>
            </a:r>
          </a:p>
        </p:txBody>
      </p:sp>
      <p:sp>
        <p:nvSpPr>
          <p:cNvPr id="8" name="Lakeflow + local preparation">
            <a:extLst xmlns:a="http://schemas.openxmlformats.org/drawingml/2006/main">
              <a:ext uri="{FF2B5EF4-FFF2-40B4-BE49-F238E27FC236}">
                <a16:creationId xmlns:a16="http://schemas.microsoft.com/office/drawing/2014/main" id="{357BF278-C8E3-4EB3-9D9D-9CB7F1C4A455}"/>
              </a:ext>
            </a:extLst>
          </p:cNvPr>
          <p:cNvSpPr>
            <a:spLocks xmlns:a="http://schemas.openxmlformats.org/drawingml/2006/main" noGrp="1"/>
          </p:cNvSpPr>
          <p:nvPr/>
        </p:nvSpPr>
        <p:spPr>
          <a:xfrm xmlns:a="http://schemas.openxmlformats.org/drawingml/2006/main">
            <a:off x="3400425" y="2581275"/>
            <a:ext cx="2819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Lakeflow + local preparation</a:t>
            </a:r>
          </a:p>
        </p:txBody>
      </p:sp>
      <p:sp>
        <p:nvSpPr>
          <p:cNvPr id="9" name="Replay bank">
            <a:extLst xmlns:a="http://schemas.openxmlformats.org/drawingml/2006/main">
              <a:ext uri="{FF2B5EF4-FFF2-40B4-BE49-F238E27FC236}">
                <a16:creationId xmlns:a16="http://schemas.microsoft.com/office/drawing/2014/main" id="{0318E386-F55B-4AA9-8EBA-14DE42484B92}"/>
              </a:ext>
            </a:extLst>
          </p:cNvPr>
          <p:cNvSpPr>
            <a:spLocks xmlns:a="http://schemas.openxmlformats.org/drawingml/2006/main" noGrp="1"/>
          </p:cNvSpPr>
          <p:nvPr/>
        </p:nvSpPr>
        <p:spPr>
          <a:xfrm xmlns:a="http://schemas.openxmlformats.org/drawingml/2006/main">
            <a:off x="7067550" y="2152650"/>
            <a:ext cx="2552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0" rIns="76200" bIns="228600" anchor="ctr">
            <a:noAutofit/>
          </a:bodyPr>
          <a:lstStyle xmlns:a="http://schemas.openxmlformats.org/drawingml/2006/main"/>
          <a:p xmlns:a="http://schemas.openxmlformats.org/drawingml/2006/main">
            <a:pPr algn="ctr">
              <a:buNone/>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Replay bank</a:t>
            </a:r>
          </a:p>
        </p:txBody>
      </p:sp>
      <p:sp>
        <p:nvSpPr>
          <p:cNvPr id="10" name="9 days per participant">
            <a:extLst xmlns:a="http://schemas.openxmlformats.org/drawingml/2006/main">
              <a:ext uri="{FF2B5EF4-FFF2-40B4-BE49-F238E27FC236}">
                <a16:creationId xmlns:a16="http://schemas.microsoft.com/office/drawing/2014/main" id="{F6D2E17C-5D82-4FC4-80BC-FBAFDEDE527A}"/>
              </a:ext>
            </a:extLst>
          </p:cNvPr>
          <p:cNvSpPr>
            <a:spLocks xmlns:a="http://schemas.openxmlformats.org/drawingml/2006/main" noGrp="1"/>
          </p:cNvSpPr>
          <p:nvPr/>
        </p:nvSpPr>
        <p:spPr>
          <a:xfrm xmlns:a="http://schemas.openxmlformats.org/drawingml/2006/main">
            <a:off x="7086600" y="2581275"/>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9 days per participant</a:t>
            </a:r>
          </a:p>
        </p:txBody>
      </p:sp>
      <p:cxnSp>
        <p:nvCxnSpPr>
          <p:cNvPr id="75" name=""/>
          <p:cNvCxnSpPr>
            <a:stCxn xmlns:a="http://schemas.openxmlformats.org/drawingml/2006/main" id="5" idx="3"/>
            <a:endCxn xmlns:a="http://schemas.openxmlformats.org/drawingml/2006/main" id="7" idx="1"/>
          </p:cNvCxnSpPr>
          <p:nvPr/>
        </p:nvCxnSpPr>
        <p:spPr>
          <a:xfrm xmlns:a="http://schemas.openxmlformats.org/drawingml/2006/main">
            <a:off x="2724150" y="2543175"/>
            <a:ext cx="657225" cy="0"/>
          </a:xfrm>
          <a:prstGeom xmlns:a="http://schemas.openxmlformats.org/drawingml/2006/main" prst="straightConnector1">
            <a:avLst/>
          </a:prstGeom>
          <a:ln xmlns:a="http://schemas.openxmlformats.org/drawingml/2006/main" w="20955">
            <a:solidFill>
              <a:srgbClr val="087D6E"/>
            </a:solidFill>
            <a:tailEnd type="triangle" w="med" len="med"/>
          </a:ln>
        </p:spPr>
      </p:cxnSp>
      <p:cxnSp>
        <p:nvCxnSpPr>
          <p:cNvPr id="76" name=""/>
          <p:cNvCxnSpPr>
            <a:stCxn xmlns:a="http://schemas.openxmlformats.org/drawingml/2006/main" id="7" idx="3"/>
            <a:endCxn xmlns:a="http://schemas.openxmlformats.org/drawingml/2006/main" id="9" idx="1"/>
          </p:cNvCxnSpPr>
          <p:nvPr/>
        </p:nvCxnSpPr>
        <p:spPr>
          <a:xfrm xmlns:a="http://schemas.openxmlformats.org/drawingml/2006/main">
            <a:off x="6238875" y="2543175"/>
            <a:ext cx="828675" cy="0"/>
          </a:xfrm>
          <a:prstGeom xmlns:a="http://schemas.openxmlformats.org/drawingml/2006/main" prst="straightConnector1">
            <a:avLst/>
          </a:prstGeom>
          <a:ln xmlns:a="http://schemas.openxmlformats.org/drawingml/2006/main" w="20955">
            <a:solidFill>
              <a:srgbClr val="087D6E"/>
            </a:solidFill>
            <a:tailEnd type="triangle" w="med" len="med"/>
          </a:ln>
        </p:spPr>
      </p:cxnSp>
      <p:sp>
        <p:nvSpPr>
          <p:cNvPr id="13" name="Replay sender">
            <a:extLst xmlns:a="http://schemas.openxmlformats.org/drawingml/2006/main">
              <a:ext uri="{FF2B5EF4-FFF2-40B4-BE49-F238E27FC236}">
                <a16:creationId xmlns:a16="http://schemas.microsoft.com/office/drawing/2014/main" id="{DC6DD715-A0FC-49FB-B117-D2AD2E680017}"/>
              </a:ext>
            </a:extLst>
          </p:cNvPr>
          <p:cNvSpPr>
            <a:spLocks xmlns:a="http://schemas.openxmlformats.org/drawingml/2006/main" noGrp="1"/>
          </p:cNvSpPr>
          <p:nvPr/>
        </p:nvSpPr>
        <p:spPr>
          <a:xfrm xmlns:a="http://schemas.openxmlformats.org/drawingml/2006/main">
            <a:off x="609600" y="3695700"/>
            <a:ext cx="2114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0" rIns="76200" bIns="228600" anchor="ctr">
            <a:noAutofit/>
          </a:bodyPr>
          <a:lstStyle xmlns:a="http://schemas.openxmlformats.org/drawingml/2006/main"/>
          <a:p xmlns:a="http://schemas.openxmlformats.org/drawingml/2006/main">
            <a:pPr algn="ctr">
              <a:buNone/>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Replay sender</a:t>
            </a:r>
          </a:p>
        </p:txBody>
      </p:sp>
      <p:sp>
        <p:nvSpPr>
          <p:cNvPr id="14" name="66 participants">
            <a:extLst xmlns:a="http://schemas.openxmlformats.org/drawingml/2006/main">
              <a:ext uri="{FF2B5EF4-FFF2-40B4-BE49-F238E27FC236}">
                <a16:creationId xmlns:a16="http://schemas.microsoft.com/office/drawing/2014/main" id="{EC0C7B99-B3BB-439A-96EC-2CB232336343}"/>
              </a:ext>
            </a:extLst>
          </p:cNvPr>
          <p:cNvSpPr>
            <a:spLocks xmlns:a="http://schemas.openxmlformats.org/drawingml/2006/main" noGrp="1"/>
          </p:cNvSpPr>
          <p:nvPr/>
        </p:nvSpPr>
        <p:spPr>
          <a:xfrm xmlns:a="http://schemas.openxmlformats.org/drawingml/2006/main">
            <a:off x="628650" y="422910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66 participants</a:t>
            </a:r>
          </a:p>
        </p:txBody>
      </p:sp>
      <p:sp>
        <p:nvSpPr>
          <p:cNvPr id="15" name="Tiger Data">
            <a:extLst xmlns:a="http://schemas.openxmlformats.org/drawingml/2006/main">
              <a:ext uri="{FF2B5EF4-FFF2-40B4-BE49-F238E27FC236}">
                <a16:creationId xmlns:a16="http://schemas.microsoft.com/office/drawing/2014/main" id="{B27417C4-5238-43AA-9D7A-5529FE0DA65A}"/>
              </a:ext>
            </a:extLst>
          </p:cNvPr>
          <p:cNvSpPr>
            <a:spLocks xmlns:a="http://schemas.openxmlformats.org/drawingml/2006/main" noGrp="1"/>
          </p:cNvSpPr>
          <p:nvPr/>
        </p:nvSpPr>
        <p:spPr>
          <a:xfrm xmlns:a="http://schemas.openxmlformats.org/drawingml/2006/main">
            <a:off x="3381375" y="3590925"/>
            <a:ext cx="2857500" cy="1114425"/>
          </a:xfrm>
          <a:prstGeom xmlns:a="http://schemas.openxmlformats.org/drawingml/2006/main" prst="roundRect">
            <a:avLst>
              <a:gd name="adj" fmla="val 10256"/>
            </a:avLst>
          </a:prstGeom>
          <a:solidFill xmlns:a="http://schemas.openxmlformats.org/drawingml/2006/main">
            <a:srgbClr val="152A32"/>
          </a:solidFill>
          <a:ln xmlns:a="http://schemas.openxmlformats.org/drawingml/2006/main" w="0">
            <a:noFill/>
          </a:ln>
        </p:spPr>
        <p:txBody>
          <a:bodyPr xmlns:a="http://schemas.openxmlformats.org/drawingml/2006/main" lIns="76200" tIns="0" rIns="76200" bIns="209550" anchor="ctr">
            <a:noAutofit/>
          </a:bodyPr>
          <a:lstStyle xmlns:a="http://schemas.openxmlformats.org/drawingml/2006/main"/>
          <a:p xmlns:a="http://schemas.openxmlformats.org/drawingml/2006/main">
            <a:pPr algn="ctr">
              <a:buNone/>
              <a:defRPr sz="2550" b="1">
                <a:solidFill>
                  <a:srgbClr val="F8FAF7"/>
                </a:solidFill>
                <a:latin typeface="Helvetica Neue"/>
                <a:ea typeface="Helvetica Neue"/>
                <a:cs typeface="Helvetica Neue"/>
              </a:defRPr>
            </a:pPr>
            <a:r>
              <a:rPr sz="2550" b="1">
                <a:solidFill>
                  <a:srgbClr val="F8FAF7"/>
                </a:solidFill>
                <a:latin typeface="Helvetica Neue"/>
                <a:ea typeface="Helvetica Neue"/>
                <a:cs typeface="Helvetica Neue"/>
              </a:rPr>
              <a:t>Tiger Data</a:t>
            </a:r>
          </a:p>
        </p:txBody>
      </p:sp>
      <p:sp>
        <p:nvSpPr>
          <p:cNvPr id="16" name="Current values + history">
            <a:extLst xmlns:a="http://schemas.openxmlformats.org/drawingml/2006/main">
              <a:ext uri="{FF2B5EF4-FFF2-40B4-BE49-F238E27FC236}">
                <a16:creationId xmlns:a16="http://schemas.microsoft.com/office/drawing/2014/main" id="{AF47204F-9FE5-4D5F-98F1-52E063917AAB}"/>
              </a:ext>
            </a:extLst>
          </p:cNvPr>
          <p:cNvSpPr>
            <a:spLocks xmlns:a="http://schemas.openxmlformats.org/drawingml/2006/main" noGrp="1"/>
          </p:cNvSpPr>
          <p:nvPr/>
        </p:nvSpPr>
        <p:spPr>
          <a:xfrm xmlns:a="http://schemas.openxmlformats.org/drawingml/2006/main">
            <a:off x="3400425" y="4352925"/>
            <a:ext cx="2819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0">
                <a:solidFill>
                  <a:srgbClr val="ADBDC1"/>
                </a:solidFill>
                <a:latin typeface="Helvetica Neue"/>
                <a:ea typeface="Helvetica Neue"/>
                <a:cs typeface="Helvetica Neue"/>
              </a:defRPr>
            </a:pPr>
            <a:r>
              <a:rPr sz="1425" b="0">
                <a:solidFill>
                  <a:srgbClr val="ADBDC1"/>
                </a:solidFill>
                <a:latin typeface="Helvetica Neue"/>
                <a:ea typeface="Helvetica Neue"/>
                <a:cs typeface="Helvetica Neue"/>
              </a:rPr>
              <a:t>Current values + history</a:t>
            </a:r>
          </a:p>
        </p:txBody>
      </p:sp>
      <p:sp>
        <p:nvSpPr>
          <p:cNvPr id="17" name="Backend API">
            <a:extLst xmlns:a="http://schemas.openxmlformats.org/drawingml/2006/main">
              <a:ext uri="{FF2B5EF4-FFF2-40B4-BE49-F238E27FC236}">
                <a16:creationId xmlns:a16="http://schemas.microsoft.com/office/drawing/2014/main" id="{0A465A01-5243-40F8-AD3F-FCC9F0461CC8}"/>
              </a:ext>
            </a:extLst>
          </p:cNvPr>
          <p:cNvSpPr>
            <a:spLocks xmlns:a="http://schemas.openxmlformats.org/drawingml/2006/main" noGrp="1"/>
          </p:cNvSpPr>
          <p:nvPr/>
        </p:nvSpPr>
        <p:spPr>
          <a:xfrm xmlns:a="http://schemas.openxmlformats.org/drawingml/2006/main">
            <a:off x="7067550" y="3695700"/>
            <a:ext cx="2333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0" rIns="76200" bIns="228600" anchor="ctr">
            <a:noAutofit/>
          </a:bodyPr>
          <a:lstStyle xmlns:a="http://schemas.openxmlformats.org/drawingml/2006/main"/>
          <a:p xmlns:a="http://schemas.openxmlformats.org/drawingml/2006/main">
            <a:pPr algn="ctr">
              <a:buNone/>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Backend API</a:t>
            </a:r>
          </a:p>
        </p:txBody>
      </p:sp>
      <p:sp>
        <p:nvSpPr>
          <p:cNvPr id="18" name="Read-only SQL">
            <a:extLst xmlns:a="http://schemas.openxmlformats.org/drawingml/2006/main">
              <a:ext uri="{FF2B5EF4-FFF2-40B4-BE49-F238E27FC236}">
                <a16:creationId xmlns:a16="http://schemas.microsoft.com/office/drawing/2014/main" id="{DDC6A233-831B-46F7-8C40-C41E71EA31C8}"/>
              </a:ext>
            </a:extLst>
          </p:cNvPr>
          <p:cNvSpPr>
            <a:spLocks xmlns:a="http://schemas.openxmlformats.org/drawingml/2006/main" noGrp="1"/>
          </p:cNvSpPr>
          <p:nvPr/>
        </p:nvSpPr>
        <p:spPr>
          <a:xfrm xmlns:a="http://schemas.openxmlformats.org/drawingml/2006/main">
            <a:off x="7086600" y="4229100"/>
            <a:ext cx="2295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Read-only SQL</a:t>
            </a:r>
          </a:p>
        </p:txBody>
      </p:sp>
      <p:sp>
        <p:nvSpPr>
          <p:cNvPr id="19" name="Dashboard">
            <a:extLst xmlns:a="http://schemas.openxmlformats.org/drawingml/2006/main">
              <a:ext uri="{FF2B5EF4-FFF2-40B4-BE49-F238E27FC236}">
                <a16:creationId xmlns:a16="http://schemas.microsoft.com/office/drawing/2014/main" id="{9C7D2F51-3A1A-4325-970A-DCB56A2580B4}"/>
              </a:ext>
            </a:extLst>
          </p:cNvPr>
          <p:cNvSpPr>
            <a:spLocks xmlns:a="http://schemas.openxmlformats.org/drawingml/2006/main" noGrp="1"/>
          </p:cNvSpPr>
          <p:nvPr/>
        </p:nvSpPr>
        <p:spPr>
          <a:xfrm xmlns:a="http://schemas.openxmlformats.org/drawingml/2006/main">
            <a:off x="10001250" y="3695700"/>
            <a:ext cx="16383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0" rIns="76200" bIns="228600" anchor="ctr">
            <a:noAutofit/>
          </a:bodyPr>
          <a:lstStyle xmlns:a="http://schemas.openxmlformats.org/drawingml/2006/main"/>
          <a:p xmlns:a="http://schemas.openxmlformats.org/drawingml/2006/main">
            <a:pPr algn="ctr">
              <a:buNone/>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Dashboard</a:t>
            </a:r>
          </a:p>
        </p:txBody>
      </p:sp>
      <p:sp>
        <p:nvSpPr>
          <p:cNvPr id="20" name="Cards + trends">
            <a:extLst xmlns:a="http://schemas.openxmlformats.org/drawingml/2006/main">
              <a:ext uri="{FF2B5EF4-FFF2-40B4-BE49-F238E27FC236}">
                <a16:creationId xmlns:a16="http://schemas.microsoft.com/office/drawing/2014/main" id="{C75D2911-B5CA-4604-B825-72A17A066D45}"/>
              </a:ext>
            </a:extLst>
          </p:cNvPr>
          <p:cNvSpPr>
            <a:spLocks xmlns:a="http://schemas.openxmlformats.org/drawingml/2006/main" noGrp="1"/>
          </p:cNvSpPr>
          <p:nvPr/>
        </p:nvSpPr>
        <p:spPr>
          <a:xfrm xmlns:a="http://schemas.openxmlformats.org/drawingml/2006/main">
            <a:off x="10020300" y="4229100"/>
            <a:ext cx="160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Cards + trends</a:t>
            </a:r>
          </a:p>
        </p:txBody>
      </p:sp>
      <p:cxnSp>
        <p:nvCxnSpPr>
          <p:cNvPr id="85" name=""/>
          <p:cNvCxnSpPr>
            <a:stCxn xmlns:a="http://schemas.openxmlformats.org/drawingml/2006/main" id="13" idx="3"/>
            <a:endCxn xmlns:a="http://schemas.openxmlformats.org/drawingml/2006/main" id="15" idx="1"/>
          </p:cNvCxnSpPr>
          <p:nvPr/>
        </p:nvCxnSpPr>
        <p:spPr>
          <a:xfrm xmlns:a="http://schemas.openxmlformats.org/drawingml/2006/main">
            <a:off x="2724150" y="4138613"/>
            <a:ext cx="657225" cy="9525"/>
          </a:xfrm>
          <a:prstGeom xmlns:a="http://schemas.openxmlformats.org/drawingml/2006/main" prst="straightConnector1">
            <a:avLst/>
          </a:prstGeom>
          <a:ln xmlns:a="http://schemas.openxmlformats.org/drawingml/2006/main" w="20955">
            <a:solidFill>
              <a:srgbClr val="087D6E"/>
            </a:solidFill>
            <a:tailEnd type="triangle" w="med" len="med"/>
          </a:ln>
        </p:spPr>
      </p:cxnSp>
      <p:cxnSp>
        <p:nvCxnSpPr>
          <p:cNvPr id="86" name=""/>
          <p:cNvCxnSpPr>
            <a:stCxn xmlns:a="http://schemas.openxmlformats.org/drawingml/2006/main" id="15" idx="3"/>
            <a:endCxn xmlns:a="http://schemas.openxmlformats.org/drawingml/2006/main" id="17" idx="1"/>
          </p:cNvCxnSpPr>
          <p:nvPr/>
        </p:nvCxnSpPr>
        <p:spPr>
          <a:xfrm xmlns:a="http://schemas.openxmlformats.org/drawingml/2006/main" flipV="1">
            <a:off x="6238875" y="4138613"/>
            <a:ext cx="828675" cy="9525"/>
          </a:xfrm>
          <a:prstGeom xmlns:a="http://schemas.openxmlformats.org/drawingml/2006/main" prst="straightConnector1">
            <a:avLst/>
          </a:prstGeom>
          <a:ln xmlns:a="http://schemas.openxmlformats.org/drawingml/2006/main" w="20955">
            <a:solidFill>
              <a:srgbClr val="087D6E"/>
            </a:solidFill>
            <a:tailEnd type="triangle" w="med" len="med"/>
          </a:ln>
        </p:spPr>
      </p:cxnSp>
      <p:cxnSp>
        <p:nvCxnSpPr>
          <p:cNvPr id="87" name=""/>
          <p:cNvCxnSpPr>
            <a:stCxn xmlns:a="http://schemas.openxmlformats.org/drawingml/2006/main" id="17" idx="3"/>
            <a:endCxn xmlns:a="http://schemas.openxmlformats.org/drawingml/2006/main" id="19" idx="1"/>
          </p:cNvCxnSpPr>
          <p:nvPr/>
        </p:nvCxnSpPr>
        <p:spPr>
          <a:xfrm xmlns:a="http://schemas.openxmlformats.org/drawingml/2006/main">
            <a:off x="9401175" y="4138613"/>
            <a:ext cx="600075" cy="0"/>
          </a:xfrm>
          <a:prstGeom xmlns:a="http://schemas.openxmlformats.org/drawingml/2006/main" prst="straightConnector1">
            <a:avLst/>
          </a:prstGeom>
          <a:ln xmlns:a="http://schemas.openxmlformats.org/drawingml/2006/main" w="20955">
            <a:solidFill>
              <a:srgbClr val="087D6E"/>
            </a:solidFill>
            <a:tailEnd type="triangle" w="med" len="med"/>
          </a:ln>
        </p:spPr>
      </p:cxnSp>
      <p:cxnSp>
        <p:nvCxnSpPr>
          <p:cNvPr id="88" name=""/>
          <p:cNvCxnSpPr>
            <a:stCxn xmlns:a="http://schemas.openxmlformats.org/drawingml/2006/main" id="9" idx="2"/>
            <a:endCxn xmlns:a="http://schemas.openxmlformats.org/drawingml/2006/main" id="13" idx="0"/>
          </p:cNvCxnSpPr>
          <p:nvPr/>
        </p:nvCxnSpPr>
        <p:spPr>
          <a:xfrm xmlns:a="http://schemas.openxmlformats.org/drawingml/2006/main" flipH="1">
            <a:off x="1666875" y="2933700"/>
            <a:ext cx="6677025" cy="762000"/>
          </a:xfrm>
          <a:prstGeom xmlns:a="http://schemas.openxmlformats.org/drawingml/2006/main" prst="bentConnector4">
            <a:avLst>
              <a:gd name="adj1" fmla="val 0"/>
              <a:gd name="adj2" fmla="val 50000"/>
            </a:avLst>
          </a:prstGeom>
          <a:ln xmlns:a="http://schemas.openxmlformats.org/drawingml/2006/main" w="20955">
            <a:solidFill>
              <a:srgbClr val="627B85"/>
            </a:solidFill>
            <a:tailEnd type="triangle" w="med" len="med"/>
          </a:ln>
        </p:spPr>
      </p:cxnSp>
      <p:sp>
        <p:nvSpPr>
          <p:cNvPr id="25" name="Every second">
            <a:extLst xmlns:a="http://schemas.openxmlformats.org/drawingml/2006/main">
              <a:ext uri="{FF2B5EF4-FFF2-40B4-BE49-F238E27FC236}">
                <a16:creationId xmlns:a16="http://schemas.microsoft.com/office/drawing/2014/main" id="{DF8EB9F3-F15B-4DFD-AA8C-8684EED1F8AE}"/>
              </a:ext>
            </a:extLst>
          </p:cNvPr>
          <p:cNvSpPr>
            <a:spLocks xmlns:a="http://schemas.openxmlformats.org/drawingml/2006/main" noGrp="1"/>
          </p:cNvSpPr>
          <p:nvPr/>
        </p:nvSpPr>
        <p:spPr>
          <a:xfrm xmlns:a="http://schemas.openxmlformats.org/drawingml/2006/main">
            <a:off x="647700" y="4791075"/>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1">
                <a:solidFill>
                  <a:srgbClr val="087D6E"/>
                </a:solidFill>
                <a:latin typeface="Helvetica Neue"/>
                <a:ea typeface="Helvetica Neue"/>
                <a:cs typeface="Helvetica Neue"/>
              </a:defRPr>
            </a:pPr>
            <a:r>
              <a:rPr sz="1650" b="1">
                <a:solidFill>
                  <a:srgbClr val="087D6E"/>
                </a:solidFill>
                <a:latin typeface="Helvetica Neue"/>
                <a:ea typeface="Helvetica Neue"/>
                <a:cs typeface="Helvetica Neue"/>
              </a:rPr>
              <a:t>Every second</a:t>
            </a:r>
          </a:p>
        </p:txBody>
      </p:sp>
      <p:sp>
        <p:nvSpPr>
          <p:cNvPr id="26" name="gold.dashboard_live">
            <a:extLst xmlns:a="http://schemas.openxmlformats.org/drawingml/2006/main">
              <a:ext uri="{FF2B5EF4-FFF2-40B4-BE49-F238E27FC236}">
                <a16:creationId xmlns:a16="http://schemas.microsoft.com/office/drawing/2014/main" id="{7EF01272-38AE-4F47-8510-C2D889DF0857}"/>
              </a:ext>
            </a:extLst>
          </p:cNvPr>
          <p:cNvSpPr>
            <a:spLocks xmlns:a="http://schemas.openxmlformats.org/drawingml/2006/main" noGrp="1"/>
          </p:cNvSpPr>
          <p:nvPr/>
        </p:nvSpPr>
        <p:spPr>
          <a:xfrm xmlns:a="http://schemas.openxmlformats.org/drawingml/2006/main">
            <a:off x="7067550" y="480060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0">
                <a:solidFill>
                  <a:srgbClr val="597079"/>
                </a:solidFill>
                <a:latin typeface="Helvetica Neue"/>
                <a:ea typeface="Helvetica Neue"/>
                <a:cs typeface="Helvetica Neue"/>
              </a:defRPr>
            </a:pPr>
            <a:r>
              <a:rPr sz="1425" b="0">
                <a:solidFill>
                  <a:srgbClr val="597079"/>
                </a:solidFill>
                <a:latin typeface="Helvetica Neue"/>
                <a:ea typeface="Helvetica Neue"/>
                <a:cs typeface="Helvetica Neue"/>
              </a:rPr>
              <a:t>gold.dashboard_live</a:t>
            </a:r>
          </a:p>
        </p:txBody>
      </p:sp>
      <p:sp>
        <p:nvSpPr>
          <p:cNvPr id="27" name="HTTPS / JSON">
            <a:extLst xmlns:a="http://schemas.openxmlformats.org/drawingml/2006/main">
              <a:ext uri="{FF2B5EF4-FFF2-40B4-BE49-F238E27FC236}">
                <a16:creationId xmlns:a16="http://schemas.microsoft.com/office/drawing/2014/main" id="{B2A265EB-FDFF-4067-9CFE-09DCE54CB8FB}"/>
              </a:ext>
            </a:extLst>
          </p:cNvPr>
          <p:cNvSpPr>
            <a:spLocks xmlns:a="http://schemas.openxmlformats.org/drawingml/2006/main" noGrp="1"/>
          </p:cNvSpPr>
          <p:nvPr/>
        </p:nvSpPr>
        <p:spPr>
          <a:xfrm xmlns:a="http://schemas.openxmlformats.org/drawingml/2006/main">
            <a:off x="9982200" y="4800600"/>
            <a:ext cx="1676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0">
                <a:solidFill>
                  <a:srgbClr val="597079"/>
                </a:solidFill>
                <a:latin typeface="Helvetica Neue"/>
                <a:ea typeface="Helvetica Neue"/>
                <a:cs typeface="Helvetica Neue"/>
              </a:defRPr>
            </a:pPr>
            <a:r>
              <a:rPr sz="1425" b="0">
                <a:solidFill>
                  <a:srgbClr val="597079"/>
                </a:solidFill>
                <a:latin typeface="Helvetica Neue"/>
                <a:ea typeface="Helvetica Neue"/>
                <a:cs typeface="Helvetica Neue"/>
              </a:rPr>
              <a:t>HTTPS / JSON</a:t>
            </a:r>
          </a:p>
        </p:txBody>
      </p:sp>
      <p:sp>
        <p:nvSpPr>
          <p:cNvPr id="28" name="Databricks Jobs">
            <a:extLst xmlns:a="http://schemas.openxmlformats.org/drawingml/2006/main">
              <a:ext uri="{FF2B5EF4-FFF2-40B4-BE49-F238E27FC236}">
                <a16:creationId xmlns:a16="http://schemas.microsoft.com/office/drawing/2014/main" id="{645D1315-5219-4704-A6B5-ADF48A4860A9}"/>
              </a:ext>
            </a:extLst>
          </p:cNvPr>
          <p:cNvSpPr>
            <a:spLocks xmlns:a="http://schemas.openxmlformats.org/drawingml/2006/main" noGrp="1"/>
          </p:cNvSpPr>
          <p:nvPr/>
        </p:nvSpPr>
        <p:spPr>
          <a:xfrm xmlns:a="http://schemas.openxmlformats.org/drawingml/2006/main">
            <a:off x="3381375" y="543877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0" rIns="76200" bIns="228600" anchor="ctr">
            <a:noAutofit/>
          </a:bodyPr>
          <a:lstStyle xmlns:a="http://schemas.openxmlformats.org/drawingml/2006/main"/>
          <a:p xmlns:a="http://schemas.openxmlformats.org/drawingml/2006/main">
            <a:pPr algn="ctr">
              <a:buNone/>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Databricks Jobs</a:t>
            </a:r>
          </a:p>
        </p:txBody>
      </p:sp>
      <p:sp>
        <p:nvSpPr>
          <p:cNvPr id="29" name="24h features + model">
            <a:extLst xmlns:a="http://schemas.openxmlformats.org/drawingml/2006/main">
              <a:ext uri="{FF2B5EF4-FFF2-40B4-BE49-F238E27FC236}">
                <a16:creationId xmlns:a16="http://schemas.microsoft.com/office/drawing/2014/main" id="{4451603D-21D3-4D51-89D6-F465702B9729}"/>
              </a:ext>
            </a:extLst>
          </p:cNvPr>
          <p:cNvSpPr>
            <a:spLocks xmlns:a="http://schemas.openxmlformats.org/drawingml/2006/main" noGrp="1"/>
          </p:cNvSpPr>
          <p:nvPr/>
        </p:nvSpPr>
        <p:spPr>
          <a:xfrm xmlns:a="http://schemas.openxmlformats.org/drawingml/2006/main">
            <a:off x="3400425" y="5895975"/>
            <a:ext cx="2819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24h features + model</a:t>
            </a:r>
          </a:p>
        </p:txBody>
      </p:sp>
      <p:cxnSp>
        <p:nvCxnSpPr>
          <p:cNvPr id="94" name=""/>
          <p:cNvCxnSpPr>
            <a:stCxn xmlns:a="http://schemas.openxmlformats.org/drawingml/2006/main" id="15" idx="2"/>
            <a:endCxn xmlns:a="http://schemas.openxmlformats.org/drawingml/2006/main" id="28" idx="0"/>
          </p:cNvCxnSpPr>
          <p:nvPr/>
        </p:nvCxnSpPr>
        <p:spPr>
          <a:xfrm xmlns:a="http://schemas.openxmlformats.org/drawingml/2006/main">
            <a:off x="4810125" y="4705350"/>
            <a:ext cx="0" cy="733425"/>
          </a:xfrm>
          <a:prstGeom xmlns:a="http://schemas.openxmlformats.org/drawingml/2006/main" prst="straightConnector1">
            <a:avLst/>
          </a:prstGeom>
          <a:ln xmlns:a="http://schemas.openxmlformats.org/drawingml/2006/main" w="20955">
            <a:solidFill>
              <a:srgbClr val="087D6E"/>
            </a:solidFill>
            <a:headEnd type="triangle" w="med" len="med"/>
            <a:tailEnd type="triangle" w="med" len="med"/>
          </a:ln>
        </p:spPr>
      </p:cxnSp>
      <p:sp>
        <p:nvSpPr>
          <p:cNvPr id="31" name="Minute events in. Metrics + risk out.">
            <a:extLst xmlns:a="http://schemas.openxmlformats.org/drawingml/2006/main">
              <a:ext uri="{FF2B5EF4-FFF2-40B4-BE49-F238E27FC236}">
                <a16:creationId xmlns:a16="http://schemas.microsoft.com/office/drawing/2014/main" id="{80068185-8AD4-4420-A633-24741021A916}"/>
              </a:ext>
            </a:extLst>
          </p:cNvPr>
          <p:cNvSpPr>
            <a:spLocks xmlns:a="http://schemas.openxmlformats.org/drawingml/2006/main" noGrp="1"/>
          </p:cNvSpPr>
          <p:nvPr/>
        </p:nvSpPr>
        <p:spPr>
          <a:xfrm xmlns:a="http://schemas.openxmlformats.org/drawingml/2006/main">
            <a:off x="6848475" y="5381625"/>
            <a:ext cx="4686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52A32"/>
                </a:solidFill>
                <a:latin typeface="Helvetica Neue"/>
                <a:ea typeface="Helvetica Neue"/>
                <a:cs typeface="Helvetica Neue"/>
              </a:defRPr>
            </a:pPr>
            <a:r>
              <a:rPr sz="1800" b="1">
                <a:solidFill>
                  <a:srgbClr val="152A32"/>
                </a:solidFill>
                <a:latin typeface="Helvetica Neue"/>
                <a:ea typeface="Helvetica Neue"/>
                <a:cs typeface="Helvetica Neue"/>
              </a:rPr>
              <a:t>Minute events in. Metrics + risk out.</a:t>
            </a:r>
          </a:p>
        </p:txBody>
      </p:sp>
      <p:sp>
        <p:nvSpPr>
          <p:cNvPr id="32" name="Every 5 minutes">
            <a:extLst xmlns:a="http://schemas.openxmlformats.org/drawingml/2006/main">
              <a:ext uri="{FF2B5EF4-FFF2-40B4-BE49-F238E27FC236}">
                <a16:creationId xmlns:a16="http://schemas.microsoft.com/office/drawing/2014/main" id="{97BF84A8-BD1B-4467-8FE9-B716E18A3850}"/>
              </a:ext>
            </a:extLst>
          </p:cNvPr>
          <p:cNvSpPr>
            <a:spLocks xmlns:a="http://schemas.openxmlformats.org/drawingml/2006/main" noGrp="1"/>
          </p:cNvSpPr>
          <p:nvPr/>
        </p:nvSpPr>
        <p:spPr>
          <a:xfrm xmlns:a="http://schemas.openxmlformats.org/drawingml/2006/main">
            <a:off x="6848475" y="5781675"/>
            <a:ext cx="4686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087D6E"/>
                </a:solidFill>
                <a:latin typeface="Helvetica Neue"/>
                <a:ea typeface="Helvetica Neue"/>
                <a:cs typeface="Helvetica Neue"/>
              </a:defRPr>
            </a:pPr>
            <a:r>
              <a:rPr sz="2100" b="1">
                <a:solidFill>
                  <a:srgbClr val="087D6E"/>
                </a:solidFill>
                <a:latin typeface="Helvetica Neue"/>
                <a:ea typeface="Helvetica Neue"/>
                <a:cs typeface="Helvetica Neue"/>
              </a:rPr>
              <a:t>Every 5 minutes</a:t>
            </a:r>
          </a:p>
        </p:txBody>
      </p:sp>
      <p:sp>
        <p:nvSpPr>
          <p:cNvPr id="33" name="Versioned model Real training data only">
            <a:extLst xmlns:a="http://schemas.openxmlformats.org/drawingml/2006/main">
              <a:ext uri="{FF2B5EF4-FFF2-40B4-BE49-F238E27FC236}">
                <a16:creationId xmlns:a16="http://schemas.microsoft.com/office/drawing/2014/main" id="{E8CEB9DD-CC20-4B68-A343-A52D94E83D30}"/>
              </a:ext>
            </a:extLst>
          </p:cNvPr>
          <p:cNvSpPr>
            <a:spLocks xmlns:a="http://schemas.openxmlformats.org/drawingml/2006/main" noGrp="1"/>
          </p:cNvSpPr>
          <p:nvPr/>
        </p:nvSpPr>
        <p:spPr>
          <a:xfrm xmlns:a="http://schemas.openxmlformats.org/drawingml/2006/main">
            <a:off x="609600" y="5667375"/>
            <a:ext cx="2476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597079"/>
                </a:solidFill>
                <a:latin typeface="Helvetica Neue"/>
                <a:ea typeface="Helvetica Neue"/>
                <a:cs typeface="Helvetica Neue"/>
              </a:defRPr>
            </a:pPr>
            <a:r>
              <a:rPr sz="1575" b="0">
                <a:solidFill>
                  <a:srgbClr val="597079"/>
                </a:solidFill>
                <a:latin typeface="Helvetica Neue"/>
                <a:ea typeface="Helvetica Neue"/>
                <a:cs typeface="Helvetica Neue"/>
              </a:rPr>
              <a:t>Versioned model</a:t>
            </a:r>
          </a:p>
          <a:p xmlns:a="http://schemas.openxmlformats.org/drawingml/2006/main">
            <a:pPr algn="l">
              <a:buNone/>
              <a:defRPr sz="1575" b="0">
                <a:solidFill>
                  <a:srgbClr val="597079"/>
                </a:solidFill>
                <a:latin typeface="Helvetica Neue"/>
                <a:ea typeface="Helvetica Neue"/>
                <a:cs typeface="Helvetica Neue"/>
              </a:defRPr>
            </a:pPr>
            <a:r>
              <a:rPr sz="1575" b="0">
                <a:solidFill>
                  <a:srgbClr val="597079"/>
                </a:solidFill>
                <a:latin typeface="Helvetica Neue"/>
                <a:ea typeface="Helvetica Neue"/>
                <a:cs typeface="Helvetica Neue"/>
              </a:rPr>
              <a:t>Real training data only</a:t>
            </a:r>
          </a:p>
        </p:txBody>
      </p:sp>
      <p:sp>
        <p:nvSpPr>
          <p:cNvPr id="34" name="Labeled synthetic demo values. Analytics cadence includes additional p">
            <a:extLst xmlns:a="http://schemas.openxmlformats.org/drawingml/2006/main">
              <a:ext uri="{FF2B5EF4-FFF2-40B4-BE49-F238E27FC236}">
                <a16:creationId xmlns:a16="http://schemas.microsoft.com/office/drawing/2014/main" id="{BA69D56D-CA4D-4DA5-B47B-76B48B81EF87}"/>
              </a:ext>
            </a:extLst>
          </p:cNvPr>
          <p:cNvSpPr>
            <a:spLocks xmlns:a="http://schemas.openxmlformats.org/drawingml/2006/main" noGrp="1"/>
          </p:cNvSpPr>
          <p:nvPr/>
        </p:nvSpPr>
        <p:spPr>
          <a:xfrm xmlns:a="http://schemas.openxmlformats.org/drawingml/2006/main">
            <a:off x="609600" y="65436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0">
                <a:solidFill>
                  <a:srgbClr val="597079"/>
                </a:solidFill>
                <a:latin typeface="Helvetica Neue"/>
                <a:ea typeface="Helvetica Neue"/>
                <a:cs typeface="Helvetica Neue"/>
              </a:defRPr>
            </a:pPr>
            <a:r>
              <a:rPr sz="1275" b="0">
                <a:solidFill>
                  <a:srgbClr val="597079"/>
                </a:solidFill>
                <a:latin typeface="Helvetica Neue"/>
                <a:ea typeface="Helvetica Neue"/>
                <a:cs typeface="Helvetica Neue"/>
              </a:rPr>
              <a:t>Labeled synthetic demo values. Analytics cadence includes additional processing time.</a:t>
            </a:r>
          </a:p>
        </p:txBody>
      </p:sp>
    </p:spTree>
    <p:extLst>
      <p:ext uri="{BB962C8B-B14F-4D97-AF65-F5344CB8AC3E}">
        <p14:creationId xmlns:p14="http://schemas.microsoft.com/office/powerpoint/2010/main" val="319668151"/>
      </p:ext>
    </p:extLst>
  </p:cSld>
</p:sld>
</file>

<file path=ppt/slides/slide4.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0" name="Experimental metabolic score">
            <a:extLst xmlns:a="http://schemas.openxmlformats.org/drawingml/2006/main">
              <a:ext uri="{FF2B5EF4-FFF2-40B4-BE49-F238E27FC236}">
                <a16:creationId xmlns:a16="http://schemas.microsoft.com/office/drawing/2014/main" id="{83C7AF55-C055-415F-9451-5F26E7925595}"/>
              </a:ext>
            </a:extLst>
          </p:cNvPr>
          <p:cNvSpPr>
            <a:spLocks xmlns:a="http://schemas.openxmlformats.org/drawingml/2006/main" noGrp="1"/>
          </p:cNvSpPr>
          <p:nvPr/>
        </p:nvSpPr>
        <p:spPr>
          <a:xfrm xmlns:a="http://schemas.openxmlformats.org/drawingml/2006/main">
            <a:off x="609600" y="4953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450" b="1">
                <a:solidFill>
                  <a:srgbClr val="152A32"/>
                </a:solidFill>
                <a:latin typeface="Helvetica Neue"/>
                <a:ea typeface="Helvetica Neue"/>
                <a:cs typeface="Helvetica Neue"/>
              </a:defRPr>
            </a:pPr>
            <a:r>
              <a:rPr sz="3450" b="1">
                <a:solidFill>
                  <a:srgbClr val="152A32"/>
                </a:solidFill>
                <a:latin typeface="Helvetica Neue"/>
                <a:ea typeface="Helvetica Neue"/>
                <a:cs typeface="Helvetica Neue"/>
              </a:rPr>
              <a:t>Experimental metabolic score</a:t>
            </a:r>
          </a:p>
        </p:txBody>
      </p:sp>
      <p:sp>
        <p:nvSpPr>
          <p:cNvPr id="2" name="24-hour movement and skin-temperature features">
            <a:extLst xmlns:a="http://schemas.openxmlformats.org/drawingml/2006/main">
              <a:ext uri="{FF2B5EF4-FFF2-40B4-BE49-F238E27FC236}">
                <a16:creationId xmlns:a16="http://schemas.microsoft.com/office/drawing/2014/main" id="{783561A8-DB33-4037-9EC3-483811E13E3F}"/>
              </a:ext>
            </a:extLst>
          </p:cNvPr>
          <p:cNvSpPr>
            <a:spLocks xmlns:a="http://schemas.openxmlformats.org/drawingml/2006/main" noGrp="1"/>
          </p:cNvSpPr>
          <p:nvPr/>
        </p:nvSpPr>
        <p:spPr>
          <a:xfrm xmlns:a="http://schemas.openxmlformats.org/drawingml/2006/main">
            <a:off x="628650" y="11811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597079"/>
                </a:solidFill>
                <a:latin typeface="Helvetica Neue"/>
                <a:ea typeface="Helvetica Neue"/>
                <a:cs typeface="Helvetica Neue"/>
              </a:defRPr>
            </a:pPr>
            <a:r>
              <a:rPr sz="1800" b="0">
                <a:solidFill>
                  <a:srgbClr val="597079"/>
                </a:solidFill>
                <a:latin typeface="Helvetica Neue"/>
                <a:ea typeface="Helvetica Neue"/>
                <a:cs typeface="Helvetica Neue"/>
              </a:rPr>
              <a:t>24-hour movement and skin-temperature features</a:t>
            </a:r>
          </a:p>
        </p:txBody>
      </p:sp>
      <p:sp>
        <p:nvSpPr>
          <p:cNvPr id="3" name="04">
            <a:extLst xmlns:a="http://schemas.openxmlformats.org/drawingml/2006/main">
              <a:ext uri="{FF2B5EF4-FFF2-40B4-BE49-F238E27FC236}">
                <a16:creationId xmlns:a16="http://schemas.microsoft.com/office/drawing/2014/main" id="{C4E953EF-9D19-4904-A991-FBBB10E8BC9A}"/>
              </a:ext>
            </a:extLst>
          </p:cNvPr>
          <p:cNvSpPr>
            <a:spLocks xmlns:a="http://schemas.openxmlformats.org/drawingml/2006/main" noGrp="1"/>
          </p:cNvSpPr>
          <p:nvPr/>
        </p:nvSpPr>
        <p:spPr>
          <a:xfrm xmlns:a="http://schemas.openxmlformats.org/drawingml/2006/main">
            <a:off x="11144250" y="63627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350" b="0">
                <a:solidFill>
                  <a:srgbClr val="597079"/>
                </a:solidFill>
                <a:latin typeface="Helvetica Neue"/>
                <a:ea typeface="Helvetica Neue"/>
                <a:cs typeface="Helvetica Neue"/>
              </a:defRPr>
            </a:pPr>
            <a:r>
              <a:rPr sz="1350" b="0">
                <a:solidFill>
                  <a:srgbClr val="597079"/>
                </a:solidFill>
                <a:latin typeface="Helvetica Neue"/>
                <a:ea typeface="Helvetica Neue"/>
                <a:cs typeface="Helvetica Neue"/>
              </a:rPr>
              <a:t>04</a:t>
            </a:r>
          </a:p>
        </p:txBody>
      </p:sp>
      <p:sp>
        <p:nvSpPr>
          <p:cNvPr id="4" name="0–100">
            <a:extLst xmlns:a="http://schemas.openxmlformats.org/drawingml/2006/main">
              <a:ext uri="{FF2B5EF4-FFF2-40B4-BE49-F238E27FC236}">
                <a16:creationId xmlns:a16="http://schemas.microsoft.com/office/drawing/2014/main" id="{BD4D8C09-8E86-4745-A97D-3A983D3034A6}"/>
              </a:ext>
            </a:extLst>
          </p:cNvPr>
          <p:cNvSpPr>
            <a:spLocks xmlns:a="http://schemas.openxmlformats.org/drawingml/2006/main" noGrp="1"/>
          </p:cNvSpPr>
          <p:nvPr/>
        </p:nvSpPr>
        <p:spPr>
          <a:xfrm xmlns:a="http://schemas.openxmlformats.org/drawingml/2006/main">
            <a:off x="609600" y="2047875"/>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5700" b="1">
                <a:solidFill>
                  <a:srgbClr val="087D6E"/>
                </a:solidFill>
                <a:latin typeface="Helvetica Neue"/>
                <a:ea typeface="Helvetica Neue"/>
                <a:cs typeface="Helvetica Neue"/>
              </a:defRPr>
            </a:pPr>
            <a:r>
              <a:rPr sz="5700" b="1">
                <a:solidFill>
                  <a:srgbClr val="087D6E"/>
                </a:solidFill>
                <a:latin typeface="Helvetica Neue"/>
                <a:ea typeface="Helvetica Neue"/>
                <a:cs typeface="Helvetica Neue"/>
              </a:rPr>
              <a:t>0–100</a:t>
            </a:r>
          </a:p>
        </p:txBody>
      </p:sp>
      <p:sp>
        <p:nvSpPr>
          <p:cNvPr id="5" name="Similarity to the higher-HbA1c cohort">
            <a:extLst xmlns:a="http://schemas.openxmlformats.org/drawingml/2006/main">
              <a:ext uri="{FF2B5EF4-FFF2-40B4-BE49-F238E27FC236}">
                <a16:creationId xmlns:a16="http://schemas.microsoft.com/office/drawing/2014/main" id="{16CAF7CD-6DBE-4F27-9537-89FABF94BC85}"/>
              </a:ext>
            </a:extLst>
          </p:cNvPr>
          <p:cNvSpPr>
            <a:spLocks xmlns:a="http://schemas.openxmlformats.org/drawingml/2006/main" noGrp="1"/>
          </p:cNvSpPr>
          <p:nvPr/>
        </p:nvSpPr>
        <p:spPr>
          <a:xfrm xmlns:a="http://schemas.openxmlformats.org/drawingml/2006/main">
            <a:off x="647700" y="3086100"/>
            <a:ext cx="4305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152A32"/>
                </a:solidFill>
                <a:latin typeface="Helvetica Neue"/>
                <a:ea typeface="Helvetica Neue"/>
                <a:cs typeface="Helvetica Neue"/>
              </a:defRPr>
            </a:pPr>
            <a:r>
              <a:rPr sz="2400" b="0">
                <a:solidFill>
                  <a:srgbClr val="152A32"/>
                </a:solidFill>
                <a:latin typeface="Helvetica Neue"/>
                <a:ea typeface="Helvetica Neue"/>
                <a:cs typeface="Helvetica Neue"/>
              </a:rPr>
              <a:t>Similarity to the</a:t>
            </a:r>
          </a:p>
          <a:p xmlns:a="http://schemas.openxmlformats.org/drawingml/2006/main">
            <a:pPr algn="l">
              <a:buNone/>
              <a:defRPr sz="2400" b="0">
                <a:solidFill>
                  <a:srgbClr val="152A32"/>
                </a:solidFill>
                <a:latin typeface="Helvetica Neue"/>
                <a:ea typeface="Helvetica Neue"/>
                <a:cs typeface="Helvetica Neue"/>
              </a:defRPr>
            </a:pPr>
            <a:r>
              <a:rPr sz="2400" b="0">
                <a:solidFill>
                  <a:srgbClr val="152A32"/>
                </a:solidFill>
                <a:latin typeface="Helvetica Neue"/>
                <a:ea typeface="Helvetica Neue"/>
                <a:cs typeface="Helvetica Neue"/>
              </a:rPr>
              <a:t>higher-HbA1c cohort</a:t>
            </a:r>
          </a:p>
        </p:txBody>
      </p:sp>
      <p:sp>
        <p:nvSpPr>
          <p:cNvPr id="6" name="15 real participants 660 real 24-hour windows">
            <a:extLst xmlns:a="http://schemas.openxmlformats.org/drawingml/2006/main">
              <a:ext uri="{FF2B5EF4-FFF2-40B4-BE49-F238E27FC236}">
                <a16:creationId xmlns:a16="http://schemas.microsoft.com/office/drawing/2014/main" id="{5BBCA9E1-96BB-48AD-8DE2-49BD66336AE7}"/>
              </a:ext>
            </a:extLst>
          </p:cNvPr>
          <p:cNvSpPr>
            <a:spLocks xmlns:a="http://schemas.openxmlformats.org/drawingml/2006/main" noGrp="1"/>
          </p:cNvSpPr>
          <p:nvPr/>
        </p:nvSpPr>
        <p:spPr>
          <a:xfrm xmlns:a="http://schemas.openxmlformats.org/drawingml/2006/main">
            <a:off x="647700" y="4638675"/>
            <a:ext cx="4324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1">
                <a:solidFill>
                  <a:srgbClr val="152A32"/>
                </a:solidFill>
                <a:latin typeface="Helvetica Neue"/>
                <a:ea typeface="Helvetica Neue"/>
                <a:cs typeface="Helvetica Neue"/>
              </a:defRPr>
            </a:pPr>
            <a:r>
              <a:rPr sz="1950" b="1">
                <a:solidFill>
                  <a:srgbClr val="152A32"/>
                </a:solidFill>
                <a:latin typeface="Helvetica Neue"/>
                <a:ea typeface="Helvetica Neue"/>
                <a:cs typeface="Helvetica Neue"/>
              </a:rPr>
              <a:t>15 real participants</a:t>
            </a:r>
          </a:p>
          <a:p xmlns:a="http://schemas.openxmlformats.org/drawingml/2006/main">
            <a:pPr algn="l">
              <a:buNone/>
              <a:defRPr sz="1950" b="1">
                <a:solidFill>
                  <a:srgbClr val="152A32"/>
                </a:solidFill>
                <a:latin typeface="Helvetica Neue"/>
                <a:ea typeface="Helvetica Neue"/>
                <a:cs typeface="Helvetica Neue"/>
              </a:defRPr>
            </a:pPr>
            <a:r>
              <a:rPr sz="1950" b="1">
                <a:solidFill>
                  <a:srgbClr val="152A32"/>
                </a:solidFill>
                <a:latin typeface="Helvetica Neue"/>
                <a:ea typeface="Helvetica Neue"/>
                <a:cs typeface="Helvetica Neue"/>
              </a:rPr>
              <a:t>660 real 24-hour windows</a:t>
            </a:r>
          </a:p>
        </p:txBody>
      </p:sp>
      <p:sp>
        <p:nvSpPr>
          <p:cNvPr id="7" name="Random forest with 12 features">
            <a:extLst xmlns:a="http://schemas.openxmlformats.org/drawingml/2006/main">
              <a:ext uri="{FF2B5EF4-FFF2-40B4-BE49-F238E27FC236}">
                <a16:creationId xmlns:a16="http://schemas.microsoft.com/office/drawing/2014/main" id="{B21933F2-5F6E-429A-8568-8BA52424C691}"/>
              </a:ext>
            </a:extLst>
          </p:cNvPr>
          <p:cNvSpPr>
            <a:spLocks xmlns:a="http://schemas.openxmlformats.org/drawingml/2006/main" noGrp="1"/>
          </p:cNvSpPr>
          <p:nvPr/>
        </p:nvSpPr>
        <p:spPr>
          <a:xfrm xmlns:a="http://schemas.openxmlformats.org/drawingml/2006/main">
            <a:off x="647700" y="5638800"/>
            <a:ext cx="4429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97079"/>
                </a:solidFill>
                <a:latin typeface="Helvetica Neue"/>
                <a:ea typeface="Helvetica Neue"/>
                <a:cs typeface="Helvetica Neue"/>
              </a:defRPr>
            </a:pPr>
            <a:r>
              <a:rPr sz="1725" b="0">
                <a:solidFill>
                  <a:srgbClr val="597079"/>
                </a:solidFill>
                <a:latin typeface="Helvetica Neue"/>
                <a:ea typeface="Helvetica Neue"/>
                <a:cs typeface="Helvetica Neue"/>
              </a:rPr>
              <a:t>Random forest with 12 features</a:t>
            </a:r>
          </a:p>
        </p:txBody>
      </p:sp>
      <p:graphicFrame>
        <p:nvGraphicFramePr>
          <p:cNvPr id="19" name="Chart"/>
          <p:cNvGraphicFramePr/>
          <p:nvPr/>
        </p:nvGraphicFramePr>
        <p:xfrm>
          <a:off xmlns:a="http://schemas.openxmlformats.org/drawingml/2006/main" x="5572125" y="2057400"/>
          <a:ext xmlns:a="http://schemas.openxmlformats.org/drawingml/2006/main" cx="6010275" cy="3857625"/>
        </p:xfrm>
        <a:graphic xmlns:a="http://schemas.openxmlformats.org/drawingml/2006/main">
          <a:graphicData uri="http://schemas.openxmlformats.org/drawingml/2006/chart">
            <c:chart xmlns:r="http://schemas.openxmlformats.org/officeDocument/2006/relationships" xmlns:c="http://schemas.openxmlformats.org/drawingml/2006/chart" r:id="R142943e8014c44cf"/>
          </a:graphicData>
        </a:graphic>
      </p:graphicFrame>
      <p:sp>
        <p:nvSpPr>
          <p:cNvPr id="9" name="Whole-participant holdouts. Clinical and cross-device validation remai">
            <a:extLst xmlns:a="http://schemas.openxmlformats.org/drawingml/2006/main">
              <a:ext uri="{FF2B5EF4-FFF2-40B4-BE49-F238E27FC236}">
                <a16:creationId xmlns:a16="http://schemas.microsoft.com/office/drawing/2014/main" id="{3C824774-61A7-46F6-977E-F859FBDFD14B}"/>
              </a:ext>
            </a:extLst>
          </p:cNvPr>
          <p:cNvSpPr>
            <a:spLocks xmlns:a="http://schemas.openxmlformats.org/drawingml/2006/main" noGrp="1"/>
          </p:cNvSpPr>
          <p:nvPr/>
        </p:nvSpPr>
        <p:spPr>
          <a:xfrm xmlns:a="http://schemas.openxmlformats.org/drawingml/2006/main">
            <a:off x="609600" y="6486525"/>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0">
                <a:solidFill>
                  <a:srgbClr val="597079"/>
                </a:solidFill>
                <a:latin typeface="Helvetica Neue"/>
                <a:ea typeface="Helvetica Neue"/>
                <a:cs typeface="Helvetica Neue"/>
              </a:defRPr>
            </a:pPr>
            <a:r>
              <a:rPr sz="1350" b="0">
                <a:solidFill>
                  <a:srgbClr val="597079"/>
                </a:solidFill>
                <a:latin typeface="Helvetica Neue"/>
                <a:ea typeface="Helvetica Neue"/>
                <a:cs typeface="Helvetica Neue"/>
              </a:rPr>
              <a:t>Whole-participant holdouts. Clinical and cross-device validation remain future work.</a:t>
            </a:r>
          </a:p>
        </p:txBody>
      </p:sp>
    </p:spTree>
    <p:extLst>
      <p:ext uri="{BB962C8B-B14F-4D97-AF65-F5344CB8AC3E}">
        <p14:creationId xmlns:p14="http://schemas.microsoft.com/office/powerpoint/2010/main" val="1081702567"/>
      </p:ext>
    </p:extLst>
  </p:cSld>
</p:sld>
</file>

<file path=ppt/slides/slide5.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32" name="Streaming and agentic AI">
            <a:extLst xmlns:a="http://schemas.openxmlformats.org/drawingml/2006/main">
              <a:ext uri="{FF2B5EF4-FFF2-40B4-BE49-F238E27FC236}">
                <a16:creationId xmlns:a16="http://schemas.microsoft.com/office/drawing/2014/main" id="{127EAC07-4131-48B4-A3E4-192965F35B2D}"/>
              </a:ext>
            </a:extLst>
          </p:cNvPr>
          <p:cNvSpPr>
            <a:spLocks xmlns:a="http://schemas.openxmlformats.org/drawingml/2006/main" noGrp="1"/>
          </p:cNvSpPr>
          <p:nvPr/>
        </p:nvSpPr>
        <p:spPr>
          <a:xfrm xmlns:a="http://schemas.openxmlformats.org/drawingml/2006/main">
            <a:off x="609600" y="4953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52A32"/>
                </a:solidFill>
                <a:latin typeface="Helvetica Neue"/>
                <a:ea typeface="Helvetica Neue"/>
                <a:cs typeface="Helvetica Neue"/>
              </a:defRPr>
            </a:pPr>
            <a:r>
              <a:rPr sz="3450" b="1">
                <a:solidFill>
                  <a:srgbClr val="152A32"/>
                </a:solidFill>
                <a:latin typeface="Helvetica Neue"/>
                <a:ea typeface="Helvetica Neue"/>
                <a:cs typeface="Helvetica Neue"/>
              </a:rPr>
              <a:t>Streaming and agentic AI</a:t>
            </a:r>
          </a:p>
        </p:txBody>
      </p:sp>
      <p:sp>
        <p:nvSpPr>
          <p:cNvPr id="2" name="Tiger Data serves live state. AI explains the computed results.">
            <a:extLst xmlns:a="http://schemas.openxmlformats.org/drawingml/2006/main">
              <a:ext uri="{FF2B5EF4-FFF2-40B4-BE49-F238E27FC236}">
                <a16:creationId xmlns:a16="http://schemas.microsoft.com/office/drawing/2014/main" id="{6C3EA65E-72C4-4400-A699-9F424D3C4DB4}"/>
              </a:ext>
            </a:extLst>
          </p:cNvPr>
          <p:cNvSpPr>
            <a:spLocks xmlns:a="http://schemas.openxmlformats.org/drawingml/2006/main" noGrp="1"/>
          </p:cNvSpPr>
          <p:nvPr/>
        </p:nvSpPr>
        <p:spPr>
          <a:xfrm xmlns:a="http://schemas.openxmlformats.org/drawingml/2006/main">
            <a:off x="628650" y="11811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97079"/>
                </a:solidFill>
                <a:latin typeface="Helvetica Neue"/>
                <a:ea typeface="Helvetica Neue"/>
                <a:cs typeface="Helvetica Neue"/>
              </a:defRPr>
            </a:pPr>
            <a:r>
              <a:rPr sz="1800" b="0">
                <a:solidFill>
                  <a:srgbClr val="597079"/>
                </a:solidFill>
                <a:latin typeface="Helvetica Neue"/>
                <a:ea typeface="Helvetica Neue"/>
                <a:cs typeface="Helvetica Neue"/>
              </a:rPr>
              <a:t>Tiger Data serves live state. AI explains the computed results.</a:t>
            </a:r>
          </a:p>
        </p:txBody>
      </p:sp>
      <p:sp>
        <p:nvSpPr>
          <p:cNvPr id="3" name="05">
            <a:extLst xmlns:a="http://schemas.openxmlformats.org/drawingml/2006/main">
              <a:ext uri="{FF2B5EF4-FFF2-40B4-BE49-F238E27FC236}">
                <a16:creationId xmlns:a16="http://schemas.microsoft.com/office/drawing/2014/main" id="{3B442E74-C3A3-41DB-A39E-4A3270778C60}"/>
              </a:ext>
            </a:extLst>
          </p:cNvPr>
          <p:cNvSpPr>
            <a:spLocks xmlns:a="http://schemas.openxmlformats.org/drawingml/2006/main" noGrp="1"/>
          </p:cNvSpPr>
          <p:nvPr/>
        </p:nvSpPr>
        <p:spPr>
          <a:xfrm xmlns:a="http://schemas.openxmlformats.org/drawingml/2006/main">
            <a:off x="11144250" y="63627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97079"/>
                </a:solidFill>
                <a:latin typeface="Helvetica Neue"/>
                <a:ea typeface="Helvetica Neue"/>
                <a:cs typeface="Helvetica Neue"/>
              </a:defRPr>
            </a:pPr>
            <a:r>
              <a:rPr sz="1350" b="0">
                <a:solidFill>
                  <a:srgbClr val="597079"/>
                </a:solidFill>
                <a:latin typeface="Helvetica Neue"/>
                <a:ea typeface="Helvetica Neue"/>
                <a:cs typeface="Helvetica Neue"/>
              </a:rPr>
              <a:t>05</a:t>
            </a:r>
          </a:p>
        </p:txBody>
      </p:sp>
      <p:sp>
        <p:nvSpPr>
          <p:cNvPr id="4" name="3.03B">
            <a:extLst xmlns:a="http://schemas.openxmlformats.org/drawingml/2006/main">
              <a:ext uri="{FF2B5EF4-FFF2-40B4-BE49-F238E27FC236}">
                <a16:creationId xmlns:a16="http://schemas.microsoft.com/office/drawing/2014/main" id="{3452D17A-4EA9-4F42-BA6B-2DFADD8A210B}"/>
              </a:ext>
            </a:extLst>
          </p:cNvPr>
          <p:cNvSpPr>
            <a:spLocks xmlns:a="http://schemas.openxmlformats.org/drawingml/2006/main" noGrp="1"/>
          </p:cNvSpPr>
          <p:nvPr/>
        </p:nvSpPr>
        <p:spPr>
          <a:xfrm xmlns:a="http://schemas.openxmlformats.org/drawingml/2006/main">
            <a:off x="609600" y="1914525"/>
            <a:ext cx="2600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087D6E"/>
                </a:solidFill>
                <a:latin typeface="Helvetica Neue"/>
                <a:ea typeface="Helvetica Neue"/>
                <a:cs typeface="Helvetica Neue"/>
              </a:defRPr>
            </a:pPr>
            <a:r>
              <a:rPr sz="4800" b="1">
                <a:solidFill>
                  <a:srgbClr val="087D6E"/>
                </a:solidFill>
                <a:latin typeface="Helvetica Neue"/>
                <a:ea typeface="Helvetica Neue"/>
                <a:cs typeface="Helvetica Neue"/>
              </a:rPr>
              <a:t>3.03B</a:t>
            </a:r>
          </a:p>
        </p:txBody>
      </p:sp>
      <p:sp>
        <p:nvSpPr>
          <p:cNvPr id="5" name="Acceleration samples prepared locally">
            <a:extLst xmlns:a="http://schemas.openxmlformats.org/drawingml/2006/main">
              <a:ext uri="{FF2B5EF4-FFF2-40B4-BE49-F238E27FC236}">
                <a16:creationId xmlns:a16="http://schemas.microsoft.com/office/drawing/2014/main" id="{F7630F55-40DD-44F4-93F7-B75B22E06F3D}"/>
              </a:ext>
            </a:extLst>
          </p:cNvPr>
          <p:cNvSpPr>
            <a:spLocks xmlns:a="http://schemas.openxmlformats.org/drawingml/2006/main" noGrp="1"/>
          </p:cNvSpPr>
          <p:nvPr/>
        </p:nvSpPr>
        <p:spPr>
          <a:xfrm xmlns:a="http://schemas.openxmlformats.org/drawingml/2006/main">
            <a:off x="647700" y="2762250"/>
            <a:ext cx="25431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97079"/>
                </a:solidFill>
                <a:latin typeface="Helvetica Neue"/>
                <a:ea typeface="Helvetica Neue"/>
                <a:cs typeface="Helvetica Neue"/>
              </a:defRPr>
            </a:pPr>
            <a:r>
              <a:rPr sz="1725" b="0">
                <a:solidFill>
                  <a:srgbClr val="597079"/>
                </a:solidFill>
                <a:latin typeface="Helvetica Neue"/>
                <a:ea typeface="Helvetica Neue"/>
                <a:cs typeface="Helvetica Neue"/>
              </a:rPr>
              <a:t>Acceleration samples</a:t>
            </a:r>
          </a:p>
          <a:p xmlns:a="http://schemas.openxmlformats.org/drawingml/2006/main">
            <a:pPr algn="l">
              <a:defRPr sz="1725" b="0">
                <a:solidFill>
                  <a:srgbClr val="597079"/>
                </a:solidFill>
                <a:latin typeface="Helvetica Neue"/>
                <a:ea typeface="Helvetica Neue"/>
                <a:cs typeface="Helvetica Neue"/>
              </a:defRPr>
            </a:pPr>
            <a:r>
              <a:rPr sz="1725" b="0">
                <a:solidFill>
                  <a:srgbClr val="597079"/>
                </a:solidFill>
                <a:latin typeface="Helvetica Neue"/>
                <a:ea typeface="Helvetica Neue"/>
                <a:cs typeface="Helvetica Neue"/>
              </a:rPr>
              <a:t>prepared locally</a:t>
            </a:r>
          </a:p>
        </p:txBody>
      </p:sp>
      <p:sp>
        <p:nvSpPr>
          <p:cNvPr id="6" name="1s">
            <a:extLst xmlns:a="http://schemas.openxmlformats.org/drawingml/2006/main">
              <a:ext uri="{FF2B5EF4-FFF2-40B4-BE49-F238E27FC236}">
                <a16:creationId xmlns:a16="http://schemas.microsoft.com/office/drawing/2014/main" id="{CE87CB86-0418-4A29-98D4-3BC28A4CD2E1}"/>
              </a:ext>
            </a:extLst>
          </p:cNvPr>
          <p:cNvSpPr>
            <a:spLocks xmlns:a="http://schemas.openxmlformats.org/drawingml/2006/main" noGrp="1"/>
          </p:cNvSpPr>
          <p:nvPr/>
        </p:nvSpPr>
        <p:spPr>
          <a:xfrm xmlns:a="http://schemas.openxmlformats.org/drawingml/2006/main">
            <a:off x="609600" y="3600450"/>
            <a:ext cx="2600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152A32"/>
                </a:solidFill>
                <a:latin typeface="Helvetica Neue"/>
                <a:ea typeface="Helvetica Neue"/>
                <a:cs typeface="Helvetica Neue"/>
              </a:defRPr>
            </a:pPr>
            <a:r>
              <a:rPr sz="4800" b="1">
                <a:solidFill>
                  <a:srgbClr val="152A32"/>
                </a:solidFill>
                <a:latin typeface="Helvetica Neue"/>
                <a:ea typeface="Helvetica Neue"/>
                <a:cs typeface="Helvetica Neue"/>
              </a:rPr>
              <a:t>1s</a:t>
            </a:r>
          </a:p>
        </p:txBody>
      </p:sp>
      <p:sp>
        <p:nvSpPr>
          <p:cNvPr id="7" name="Updates for 66 people">
            <a:extLst xmlns:a="http://schemas.openxmlformats.org/drawingml/2006/main">
              <a:ext uri="{FF2B5EF4-FFF2-40B4-BE49-F238E27FC236}">
                <a16:creationId xmlns:a16="http://schemas.microsoft.com/office/drawing/2014/main" id="{21B930A8-E1BE-421B-8C44-9AC3D0CE0CD2}"/>
              </a:ext>
            </a:extLst>
          </p:cNvPr>
          <p:cNvSpPr>
            <a:spLocks xmlns:a="http://schemas.openxmlformats.org/drawingml/2006/main" noGrp="1"/>
          </p:cNvSpPr>
          <p:nvPr/>
        </p:nvSpPr>
        <p:spPr>
          <a:xfrm xmlns:a="http://schemas.openxmlformats.org/drawingml/2006/main">
            <a:off x="647700" y="4419600"/>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97079"/>
                </a:solidFill>
                <a:latin typeface="Helvetica Neue"/>
                <a:ea typeface="Helvetica Neue"/>
                <a:cs typeface="Helvetica Neue"/>
              </a:defRPr>
            </a:pPr>
            <a:r>
              <a:rPr sz="1725" b="0">
                <a:solidFill>
                  <a:srgbClr val="597079"/>
                </a:solidFill>
                <a:latin typeface="Helvetica Neue"/>
                <a:ea typeface="Helvetica Neue"/>
                <a:cs typeface="Helvetica Neue"/>
              </a:rPr>
              <a:t>Updates for 66 people</a:t>
            </a:r>
          </a:p>
        </p:txBody>
      </p:sp>
      <p:sp>
        <p:nvSpPr>
          <p:cNvPr id="8" name="5 min">
            <a:extLst xmlns:a="http://schemas.openxmlformats.org/drawingml/2006/main">
              <a:ext uri="{FF2B5EF4-FFF2-40B4-BE49-F238E27FC236}">
                <a16:creationId xmlns:a16="http://schemas.microsoft.com/office/drawing/2014/main" id="{E54D1F0A-B54D-4C78-BA8F-4CC5819013B4}"/>
              </a:ext>
            </a:extLst>
          </p:cNvPr>
          <p:cNvSpPr>
            <a:spLocks xmlns:a="http://schemas.openxmlformats.org/drawingml/2006/main" noGrp="1"/>
          </p:cNvSpPr>
          <p:nvPr/>
        </p:nvSpPr>
        <p:spPr>
          <a:xfrm xmlns:a="http://schemas.openxmlformats.org/drawingml/2006/main">
            <a:off x="609600" y="5238750"/>
            <a:ext cx="26098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087D6E"/>
                </a:solidFill>
                <a:latin typeface="Helvetica Neue"/>
                <a:ea typeface="Helvetica Neue"/>
                <a:cs typeface="Helvetica Neue"/>
              </a:defRPr>
            </a:pPr>
            <a:r>
              <a:rPr sz="4500" b="1">
                <a:solidFill>
                  <a:srgbClr val="087D6E"/>
                </a:solidFill>
                <a:latin typeface="Helvetica Neue"/>
                <a:ea typeface="Helvetica Neue"/>
                <a:cs typeface="Helvetica Neue"/>
              </a:rPr>
              <a:t>5 min</a:t>
            </a:r>
          </a:p>
        </p:txBody>
      </p:sp>
      <p:sp>
        <p:nvSpPr>
          <p:cNvPr id="9" name="Rolling analytics">
            <a:extLst xmlns:a="http://schemas.openxmlformats.org/drawingml/2006/main">
              <a:ext uri="{FF2B5EF4-FFF2-40B4-BE49-F238E27FC236}">
                <a16:creationId xmlns:a16="http://schemas.microsoft.com/office/drawing/2014/main" id="{3E16C3A4-85A0-49C0-9574-76DC2E7B2A30}"/>
              </a:ext>
            </a:extLst>
          </p:cNvPr>
          <p:cNvSpPr>
            <a:spLocks xmlns:a="http://schemas.openxmlformats.org/drawingml/2006/main" noGrp="1"/>
          </p:cNvSpPr>
          <p:nvPr/>
        </p:nvSpPr>
        <p:spPr>
          <a:xfrm xmlns:a="http://schemas.openxmlformats.org/drawingml/2006/main">
            <a:off x="647700" y="606742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97079"/>
                </a:solidFill>
                <a:latin typeface="Helvetica Neue"/>
                <a:ea typeface="Helvetica Neue"/>
                <a:cs typeface="Helvetica Neue"/>
              </a:defRPr>
            </a:pPr>
            <a:r>
              <a:rPr sz="1725" b="0">
                <a:solidFill>
                  <a:srgbClr val="597079"/>
                </a:solidFill>
                <a:latin typeface="Helvetica Neue"/>
                <a:ea typeface="Helvetica Neue"/>
                <a:cs typeface="Helvetica Neue"/>
              </a:rPr>
              <a:t>Rolling analytics</a:t>
            </a:r>
          </a:p>
        </p:txBody>
      </p:sp>
      <p:sp>
        <p:nvSpPr>
          <p:cNvPr id="10" name="LIVE DATA SERVING">
            <a:extLst xmlns:a="http://schemas.openxmlformats.org/drawingml/2006/main">
              <a:ext uri="{FF2B5EF4-FFF2-40B4-BE49-F238E27FC236}">
                <a16:creationId xmlns:a16="http://schemas.microsoft.com/office/drawing/2014/main" id="{DDC5F818-C63E-49AA-9BC1-6A5D07B7500C}"/>
              </a:ext>
            </a:extLst>
          </p:cNvPr>
          <p:cNvSpPr>
            <a:spLocks xmlns:a="http://schemas.openxmlformats.org/drawingml/2006/main" noGrp="1"/>
          </p:cNvSpPr>
          <p:nvPr/>
        </p:nvSpPr>
        <p:spPr>
          <a:xfrm xmlns:a="http://schemas.openxmlformats.org/drawingml/2006/main">
            <a:off x="3486150" y="19526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97079"/>
                </a:solidFill>
                <a:latin typeface="Helvetica Neue"/>
                <a:ea typeface="Helvetica Neue"/>
                <a:cs typeface="Helvetica Neue"/>
              </a:defRPr>
            </a:pPr>
            <a:r>
              <a:rPr sz="1350" b="0">
                <a:solidFill>
                  <a:srgbClr val="597079"/>
                </a:solidFill>
                <a:latin typeface="Helvetica Neue"/>
                <a:ea typeface="Helvetica Neue"/>
                <a:cs typeface="Helvetica Neue"/>
              </a:rPr>
              <a:t>LIVE DATA SERVING</a:t>
            </a:r>
          </a:p>
        </p:txBody>
      </p:sp>
      <p:sp>
        <p:nvSpPr>
          <p:cNvPr id="11" name="Replay feed">
            <a:extLst xmlns:a="http://schemas.openxmlformats.org/drawingml/2006/main">
              <a:ext uri="{FF2B5EF4-FFF2-40B4-BE49-F238E27FC236}">
                <a16:creationId xmlns:a16="http://schemas.microsoft.com/office/drawing/2014/main" id="{C544515A-3983-4809-8E37-EC02F2EAABFA}"/>
              </a:ext>
            </a:extLst>
          </p:cNvPr>
          <p:cNvSpPr>
            <a:spLocks xmlns:a="http://schemas.openxmlformats.org/drawingml/2006/main" noGrp="1"/>
          </p:cNvSpPr>
          <p:nvPr/>
        </p:nvSpPr>
        <p:spPr>
          <a:xfrm xmlns:a="http://schemas.openxmlformats.org/drawingml/2006/main">
            <a:off x="3409950" y="2466975"/>
            <a:ext cx="19431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0" rIns="38100" bIns="285750" anchor="ctr">
            <a:noAutofit/>
          </a:bodyPr>
          <a:lstStyle xmlns:a="http://schemas.openxmlformats.org/drawingml/2006/main"/>
          <a:p xmlns:a="http://schemas.openxmlformats.org/drawingml/2006/main">
            <a:pPr algn="ctr">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Replay feed</a:t>
            </a:r>
          </a:p>
        </p:txBody>
      </p:sp>
      <p:sp>
        <p:nvSpPr>
          <p:cNvPr id="12" name="Every second">
            <a:extLst xmlns:a="http://schemas.openxmlformats.org/drawingml/2006/main">
              <a:ext uri="{FF2B5EF4-FFF2-40B4-BE49-F238E27FC236}">
                <a16:creationId xmlns:a16="http://schemas.microsoft.com/office/drawing/2014/main" id="{131EADF1-044D-4ED7-BB17-A59DBAE1FD40}"/>
              </a:ext>
            </a:extLst>
          </p:cNvPr>
          <p:cNvSpPr>
            <a:spLocks xmlns:a="http://schemas.openxmlformats.org/drawingml/2006/main" noGrp="1"/>
          </p:cNvSpPr>
          <p:nvPr/>
        </p:nvSpPr>
        <p:spPr>
          <a:xfrm xmlns:a="http://schemas.openxmlformats.org/drawingml/2006/main">
            <a:off x="3429000" y="30861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Every second</a:t>
            </a:r>
          </a:p>
        </p:txBody>
      </p:sp>
      <p:sp>
        <p:nvSpPr>
          <p:cNvPr id="13" name="Tiger Data">
            <a:extLst xmlns:a="http://schemas.openxmlformats.org/drawingml/2006/main">
              <a:ext uri="{FF2B5EF4-FFF2-40B4-BE49-F238E27FC236}">
                <a16:creationId xmlns:a16="http://schemas.microsoft.com/office/drawing/2014/main" id="{4D03E997-3744-4D98-9B99-DE782E51BB61}"/>
              </a:ext>
            </a:extLst>
          </p:cNvPr>
          <p:cNvSpPr>
            <a:spLocks xmlns:a="http://schemas.openxmlformats.org/drawingml/2006/main" noGrp="1"/>
          </p:cNvSpPr>
          <p:nvPr/>
        </p:nvSpPr>
        <p:spPr>
          <a:xfrm xmlns:a="http://schemas.openxmlformats.org/drawingml/2006/main">
            <a:off x="5867400" y="2343150"/>
            <a:ext cx="2552700" cy="1181100"/>
          </a:xfrm>
          <a:prstGeom xmlns:a="http://schemas.openxmlformats.org/drawingml/2006/main" prst="roundRect">
            <a:avLst>
              <a:gd name="adj" fmla="val 9677"/>
            </a:avLst>
          </a:prstGeom>
          <a:solidFill xmlns:a="http://schemas.openxmlformats.org/drawingml/2006/main">
            <a:srgbClr val="152A32"/>
          </a:solidFill>
          <a:ln xmlns:a="http://schemas.openxmlformats.org/drawingml/2006/main" w="0">
            <a:noFill/>
          </a:ln>
        </p:spPr>
        <p:txBody>
          <a:bodyPr xmlns:a="http://schemas.openxmlformats.org/drawingml/2006/main" lIns="38100" tIns="0" rIns="38100" bIns="285750" anchor="ctr">
            <a:noAutofit/>
          </a:bodyPr>
          <a:lstStyle xmlns:a="http://schemas.openxmlformats.org/drawingml/2006/main"/>
          <a:p xmlns:a="http://schemas.openxmlformats.org/drawingml/2006/main">
            <a:pPr algn="ctr">
              <a:defRPr sz="2400" b="1">
                <a:solidFill>
                  <a:srgbClr val="F8FAF7"/>
                </a:solidFill>
                <a:latin typeface="Helvetica Neue"/>
                <a:ea typeface="Helvetica Neue"/>
                <a:cs typeface="Helvetica Neue"/>
              </a:defRPr>
            </a:pPr>
            <a:r>
              <a:rPr sz="2400" b="1">
                <a:solidFill>
                  <a:srgbClr val="F8FAF7"/>
                </a:solidFill>
                <a:latin typeface="Helvetica Neue"/>
                <a:ea typeface="Helvetica Neue"/>
                <a:cs typeface="Helvetica Neue"/>
              </a:rPr>
              <a:t>Tiger Data</a:t>
            </a:r>
          </a:p>
        </p:txBody>
      </p:sp>
      <p:sp>
        <p:nvSpPr>
          <p:cNvPr id="14" name="PostgreSQL + Timescale">
            <a:extLst xmlns:a="http://schemas.openxmlformats.org/drawingml/2006/main">
              <a:ext uri="{FF2B5EF4-FFF2-40B4-BE49-F238E27FC236}">
                <a16:creationId xmlns:a16="http://schemas.microsoft.com/office/drawing/2014/main" id="{DE1CFEF2-027C-47CE-B747-C4F8915F497F}"/>
              </a:ext>
            </a:extLst>
          </p:cNvPr>
          <p:cNvSpPr>
            <a:spLocks xmlns:a="http://schemas.openxmlformats.org/drawingml/2006/main" noGrp="1"/>
          </p:cNvSpPr>
          <p:nvPr/>
        </p:nvSpPr>
        <p:spPr>
          <a:xfrm xmlns:a="http://schemas.openxmlformats.org/drawingml/2006/main">
            <a:off x="5886450" y="3181350"/>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ADBDC1"/>
                </a:solidFill>
                <a:latin typeface="Helvetica Neue"/>
                <a:ea typeface="Helvetica Neue"/>
                <a:cs typeface="Helvetica Neue"/>
              </a:defRPr>
            </a:pPr>
            <a:r>
              <a:rPr sz="1500" b="0">
                <a:solidFill>
                  <a:srgbClr val="ADBDC1"/>
                </a:solidFill>
                <a:latin typeface="Helvetica Neue"/>
                <a:ea typeface="Helvetica Neue"/>
                <a:cs typeface="Helvetica Neue"/>
              </a:rPr>
              <a:t>PostgreSQL + Timescale</a:t>
            </a:r>
          </a:p>
        </p:txBody>
      </p:sp>
      <p:sp>
        <p:nvSpPr>
          <p:cNvPr id="15" name="Backend API">
            <a:extLst xmlns:a="http://schemas.openxmlformats.org/drawingml/2006/main">
              <a:ext uri="{FF2B5EF4-FFF2-40B4-BE49-F238E27FC236}">
                <a16:creationId xmlns:a16="http://schemas.microsoft.com/office/drawing/2014/main" id="{961DBFAF-7DC0-408E-9840-74FEAE27D3FD}"/>
              </a:ext>
            </a:extLst>
          </p:cNvPr>
          <p:cNvSpPr>
            <a:spLocks xmlns:a="http://schemas.openxmlformats.org/drawingml/2006/main" noGrp="1"/>
          </p:cNvSpPr>
          <p:nvPr/>
        </p:nvSpPr>
        <p:spPr>
          <a:xfrm xmlns:a="http://schemas.openxmlformats.org/drawingml/2006/main">
            <a:off x="9086850" y="2466975"/>
            <a:ext cx="24955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0" rIns="38100" bIns="285750" anchor="ctr">
            <a:noAutofit/>
          </a:bodyPr>
          <a:lstStyle xmlns:a="http://schemas.openxmlformats.org/drawingml/2006/main"/>
          <a:p xmlns:a="http://schemas.openxmlformats.org/drawingml/2006/main">
            <a:pPr algn="ctr">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Backend API</a:t>
            </a:r>
          </a:p>
        </p:txBody>
      </p:sp>
      <p:sp>
        <p:nvSpPr>
          <p:cNvPr id="16" name="Read-only SQL">
            <a:extLst xmlns:a="http://schemas.openxmlformats.org/drawingml/2006/main">
              <a:ext uri="{FF2B5EF4-FFF2-40B4-BE49-F238E27FC236}">
                <a16:creationId xmlns:a16="http://schemas.microsoft.com/office/drawing/2014/main" id="{9422A84D-1B22-4167-A170-CECD1D992362}"/>
              </a:ext>
            </a:extLst>
          </p:cNvPr>
          <p:cNvSpPr>
            <a:spLocks xmlns:a="http://schemas.openxmlformats.org/drawingml/2006/main" noGrp="1"/>
          </p:cNvSpPr>
          <p:nvPr/>
        </p:nvSpPr>
        <p:spPr>
          <a:xfrm xmlns:a="http://schemas.openxmlformats.org/drawingml/2006/main">
            <a:off x="9105900" y="3086100"/>
            <a:ext cx="2457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Read-only SQL</a:t>
            </a:r>
          </a:p>
        </p:txBody>
      </p: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flipV="1">
            <a:off x="5353050" y="2933700"/>
            <a:ext cx="514350" cy="14288"/>
          </a:xfrm>
          <a:prstGeom xmlns:a="http://schemas.openxmlformats.org/drawingml/2006/main" prst="straightConnector1">
            <a:avLst/>
          </a:prstGeom>
          <a:ln xmlns:a="http://schemas.openxmlformats.org/drawingml/2006/main" w="20955">
            <a:solidFill>
              <a:srgbClr val="087D6E"/>
            </a:solidFill>
            <a:tailEnd type="triangle" w="med" len="med"/>
          </a:ln>
        </p:spPr>
      </p:cxnSp>
      <p:cxnSp>
        <p:nvCxnSpPr>
          <p:cNvPr id="49" name=""/>
          <p:cNvCxnSpPr>
            <a:stCxn xmlns:a="http://schemas.openxmlformats.org/drawingml/2006/main" id="13" idx="3"/>
            <a:endCxn xmlns:a="http://schemas.openxmlformats.org/drawingml/2006/main" id="15" idx="1"/>
          </p:cNvCxnSpPr>
          <p:nvPr/>
        </p:nvCxnSpPr>
        <p:spPr>
          <a:xfrm xmlns:a="http://schemas.openxmlformats.org/drawingml/2006/main">
            <a:off x="8420100" y="2933700"/>
            <a:ext cx="666750" cy="14288"/>
          </a:xfrm>
          <a:prstGeom xmlns:a="http://schemas.openxmlformats.org/drawingml/2006/main" prst="straightConnector1">
            <a:avLst/>
          </a:prstGeom>
          <a:ln xmlns:a="http://schemas.openxmlformats.org/drawingml/2006/main" w="20955">
            <a:solidFill>
              <a:srgbClr val="087D6E"/>
            </a:solidFill>
            <a:tailEnd type="triangle" w="med" len="med"/>
          </a:ln>
        </p:spPr>
      </p:cxnSp>
      <p:sp>
        <p:nvSpPr>
          <p:cNvPr id="19" name="Hypertables retain minute history. Latest views serve the dashboard.">
            <a:extLst xmlns:a="http://schemas.openxmlformats.org/drawingml/2006/main">
              <a:ext uri="{FF2B5EF4-FFF2-40B4-BE49-F238E27FC236}">
                <a16:creationId xmlns:a16="http://schemas.microsoft.com/office/drawing/2014/main" id="{8789D7B3-8A33-40A2-B02E-F8F0EADA26D9}"/>
              </a:ext>
            </a:extLst>
          </p:cNvPr>
          <p:cNvSpPr>
            <a:spLocks xmlns:a="http://schemas.openxmlformats.org/drawingml/2006/main" noGrp="1"/>
          </p:cNvSpPr>
          <p:nvPr/>
        </p:nvSpPr>
        <p:spPr>
          <a:xfrm xmlns:a="http://schemas.openxmlformats.org/drawingml/2006/main">
            <a:off x="3486150" y="36861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97079"/>
                </a:solidFill>
                <a:latin typeface="Helvetica Neue"/>
                <a:ea typeface="Helvetica Neue"/>
                <a:cs typeface="Helvetica Neue"/>
              </a:defRPr>
            </a:pPr>
            <a:r>
              <a:rPr sz="1725" b="0">
                <a:solidFill>
                  <a:srgbClr val="597079"/>
                </a:solidFill>
                <a:latin typeface="Helvetica Neue"/>
                <a:ea typeface="Helvetica Neue"/>
                <a:cs typeface="Helvetica Neue"/>
              </a:rPr>
              <a:t>Hypertables retain minute history. Latest views serve the dashboard.</a:t>
            </a:r>
          </a:p>
        </p:txBody>
      </p:sp>
      <p:sp>
        <p:nvSpPr>
          <p:cNvPr id="20" name="AGENTIC EXPLANATIONS">
            <a:extLst xmlns:a="http://schemas.openxmlformats.org/drawingml/2006/main">
              <a:ext uri="{FF2B5EF4-FFF2-40B4-BE49-F238E27FC236}">
                <a16:creationId xmlns:a16="http://schemas.microsoft.com/office/drawing/2014/main" id="{A752FB74-9A03-4F87-81E2-B023D5611F4F}"/>
              </a:ext>
            </a:extLst>
          </p:cNvPr>
          <p:cNvSpPr>
            <a:spLocks xmlns:a="http://schemas.openxmlformats.org/drawingml/2006/main" noGrp="1"/>
          </p:cNvSpPr>
          <p:nvPr/>
        </p:nvSpPr>
        <p:spPr>
          <a:xfrm xmlns:a="http://schemas.openxmlformats.org/drawingml/2006/main">
            <a:off x="3486150" y="44100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97079"/>
                </a:solidFill>
                <a:latin typeface="Helvetica Neue"/>
                <a:ea typeface="Helvetica Neue"/>
                <a:cs typeface="Helvetica Neue"/>
              </a:defRPr>
            </a:pPr>
            <a:r>
              <a:rPr sz="1350" b="0">
                <a:solidFill>
                  <a:srgbClr val="597079"/>
                </a:solidFill>
                <a:latin typeface="Helvetica Neue"/>
                <a:ea typeface="Helvetica Neue"/>
                <a:cs typeface="Helvetica Neue"/>
              </a:rPr>
              <a:t>AGENTIC EXPLANATIONS</a:t>
            </a:r>
          </a:p>
        </p:txBody>
      </p:sp>
      <p:sp>
        <p:nvSpPr>
          <p:cNvPr id="21" name="User + context">
            <a:extLst xmlns:a="http://schemas.openxmlformats.org/drawingml/2006/main">
              <a:ext uri="{FF2B5EF4-FFF2-40B4-BE49-F238E27FC236}">
                <a16:creationId xmlns:a16="http://schemas.microsoft.com/office/drawing/2014/main" id="{40ED569D-E5F8-4964-AEAF-A56B4184824C}"/>
              </a:ext>
            </a:extLst>
          </p:cNvPr>
          <p:cNvSpPr>
            <a:spLocks xmlns:a="http://schemas.openxmlformats.org/drawingml/2006/main" noGrp="1"/>
          </p:cNvSpPr>
          <p:nvPr/>
        </p:nvSpPr>
        <p:spPr>
          <a:xfrm xmlns:a="http://schemas.openxmlformats.org/drawingml/2006/main">
            <a:off x="3409950" y="4819650"/>
            <a:ext cx="2076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0" rIns="38100" bIns="285750" anchor="ctr">
            <a:noAutofit/>
          </a:bodyPr>
          <a:lstStyle xmlns:a="http://schemas.openxmlformats.org/drawingml/2006/main"/>
          <a:p xmlns:a="http://schemas.openxmlformats.org/drawingml/2006/main">
            <a:pPr algn="ctr">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User + context</a:t>
            </a:r>
          </a:p>
        </p:txBody>
      </p:sp>
      <p:sp>
        <p:nvSpPr>
          <p:cNvPr id="22" name="Tiger metrics + trends">
            <a:extLst xmlns:a="http://schemas.openxmlformats.org/drawingml/2006/main">
              <a:ext uri="{FF2B5EF4-FFF2-40B4-BE49-F238E27FC236}">
                <a16:creationId xmlns:a16="http://schemas.microsoft.com/office/drawing/2014/main" id="{CBE6A8CD-BE98-4701-BC64-03D14EE48D18}"/>
              </a:ext>
            </a:extLst>
          </p:cNvPr>
          <p:cNvSpPr>
            <a:spLocks xmlns:a="http://schemas.openxmlformats.org/drawingml/2006/main" noGrp="1"/>
          </p:cNvSpPr>
          <p:nvPr/>
        </p:nvSpPr>
        <p:spPr>
          <a:xfrm xmlns:a="http://schemas.openxmlformats.org/drawingml/2006/main">
            <a:off x="3429000" y="535305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Tiger metrics + trends</a:t>
            </a:r>
          </a:p>
        </p:txBody>
      </p:sp>
      <p:sp>
        <p:nvSpPr>
          <p:cNvPr id="23" name="OpenAI Agents SDK">
            <a:extLst xmlns:a="http://schemas.openxmlformats.org/drawingml/2006/main">
              <a:ext uri="{FF2B5EF4-FFF2-40B4-BE49-F238E27FC236}">
                <a16:creationId xmlns:a16="http://schemas.microsoft.com/office/drawing/2014/main" id="{8D4B4B1F-39BA-4ACC-9AC2-ADD1037A566E}"/>
              </a:ext>
            </a:extLst>
          </p:cNvPr>
          <p:cNvSpPr>
            <a:spLocks xmlns:a="http://schemas.openxmlformats.org/drawingml/2006/main" noGrp="1"/>
          </p:cNvSpPr>
          <p:nvPr/>
        </p:nvSpPr>
        <p:spPr>
          <a:xfrm xmlns:a="http://schemas.openxmlformats.org/drawingml/2006/main">
            <a:off x="5876925" y="4819650"/>
            <a:ext cx="2990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0" rIns="38100" bIns="285750" anchor="ctr">
            <a:noAutofit/>
          </a:bodyPr>
          <a:lstStyle xmlns:a="http://schemas.openxmlformats.org/drawingml/2006/main"/>
          <a:p xmlns:a="http://schemas.openxmlformats.org/drawingml/2006/main">
            <a:pPr algn="ctr">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OpenAI Agents SDK</a:t>
            </a:r>
          </a:p>
        </p:txBody>
      </p:sp>
      <p:sp>
        <p:nvSpPr>
          <p:cNvPr id="24" name="Orchestration + guardrails">
            <a:extLst xmlns:a="http://schemas.openxmlformats.org/drawingml/2006/main">
              <a:ext uri="{FF2B5EF4-FFF2-40B4-BE49-F238E27FC236}">
                <a16:creationId xmlns:a16="http://schemas.microsoft.com/office/drawing/2014/main" id="{BF24A6F3-F36B-491C-A9BD-CBB786B31620}"/>
              </a:ext>
            </a:extLst>
          </p:cNvPr>
          <p:cNvSpPr>
            <a:spLocks xmlns:a="http://schemas.openxmlformats.org/drawingml/2006/main" noGrp="1"/>
          </p:cNvSpPr>
          <p:nvPr/>
        </p:nvSpPr>
        <p:spPr>
          <a:xfrm xmlns:a="http://schemas.openxmlformats.org/drawingml/2006/main">
            <a:off x="5895975" y="53530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Orchestration + guardrails</a:t>
            </a:r>
          </a:p>
        </p:txBody>
      </p:sp>
      <p:sp>
        <p:nvSpPr>
          <p:cNvPr id="25" name="Gemini API">
            <a:extLst xmlns:a="http://schemas.openxmlformats.org/drawingml/2006/main">
              <a:ext uri="{FF2B5EF4-FFF2-40B4-BE49-F238E27FC236}">
                <a16:creationId xmlns:a16="http://schemas.microsoft.com/office/drawing/2014/main" id="{CCB5E8C2-A7E1-42E1-BD9F-625AD71C7120}"/>
              </a:ext>
            </a:extLst>
          </p:cNvPr>
          <p:cNvSpPr>
            <a:spLocks xmlns:a="http://schemas.openxmlformats.org/drawingml/2006/main" noGrp="1"/>
          </p:cNvSpPr>
          <p:nvPr/>
        </p:nvSpPr>
        <p:spPr>
          <a:xfrm xmlns:a="http://schemas.openxmlformats.org/drawingml/2006/main">
            <a:off x="9353550" y="4819650"/>
            <a:ext cx="222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0" rIns="38100" bIns="285750" anchor="ctr">
            <a:noAutofit/>
          </a:bodyPr>
          <a:lstStyle xmlns:a="http://schemas.openxmlformats.org/drawingml/2006/main"/>
          <a:p xmlns:a="http://schemas.openxmlformats.org/drawingml/2006/main">
            <a:pPr algn="ctr">
              <a:defRPr sz="2025" b="1">
                <a:solidFill>
                  <a:srgbClr val="152A32"/>
                </a:solidFill>
                <a:latin typeface="Helvetica Neue"/>
                <a:ea typeface="Helvetica Neue"/>
                <a:cs typeface="Helvetica Neue"/>
              </a:defRPr>
            </a:pPr>
            <a:r>
              <a:rPr sz="2025" b="1">
                <a:solidFill>
                  <a:srgbClr val="152A32"/>
                </a:solidFill>
                <a:latin typeface="Helvetica Neue"/>
                <a:ea typeface="Helvetica Neue"/>
                <a:cs typeface="Helvetica Neue"/>
              </a:rPr>
              <a:t>Gemini API</a:t>
            </a:r>
          </a:p>
        </p:txBody>
      </p:sp>
      <p:sp>
        <p:nvSpPr>
          <p:cNvPr id="26" name="Response generation">
            <a:extLst xmlns:a="http://schemas.openxmlformats.org/drawingml/2006/main">
              <a:ext uri="{FF2B5EF4-FFF2-40B4-BE49-F238E27FC236}">
                <a16:creationId xmlns:a16="http://schemas.microsoft.com/office/drawing/2014/main" id="{39346E2E-E5AD-460D-88FE-603D0CE79419}"/>
              </a:ext>
            </a:extLst>
          </p:cNvPr>
          <p:cNvSpPr>
            <a:spLocks xmlns:a="http://schemas.openxmlformats.org/drawingml/2006/main" noGrp="1"/>
          </p:cNvSpPr>
          <p:nvPr/>
        </p:nvSpPr>
        <p:spPr>
          <a:xfrm xmlns:a="http://schemas.openxmlformats.org/drawingml/2006/main">
            <a:off x="9372600" y="53530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Response generation</a:t>
            </a:r>
          </a:p>
        </p:txBody>
      </p:sp>
      <p:cxnSp>
        <p:nvCxnSpPr>
          <p:cNvPr id="58" name=""/>
          <p:cNvCxnSpPr>
            <a:stCxn xmlns:a="http://schemas.openxmlformats.org/drawingml/2006/main" id="21" idx="3"/>
            <a:endCxn xmlns:a="http://schemas.openxmlformats.org/drawingml/2006/main" id="23" idx="1"/>
          </p:cNvCxnSpPr>
          <p:nvPr/>
        </p:nvCxnSpPr>
        <p:spPr>
          <a:xfrm xmlns:a="http://schemas.openxmlformats.org/drawingml/2006/main">
            <a:off x="5486400" y="5257800"/>
            <a:ext cx="390525" cy="0"/>
          </a:xfrm>
          <a:prstGeom xmlns:a="http://schemas.openxmlformats.org/drawingml/2006/main" prst="straightConnector1">
            <a:avLst/>
          </a:prstGeom>
          <a:ln xmlns:a="http://schemas.openxmlformats.org/drawingml/2006/main" w="20955">
            <a:solidFill>
              <a:srgbClr val="087D6E"/>
            </a:solidFill>
            <a:tailEnd type="triangle" w="med" len="med"/>
          </a:ln>
        </p:spPr>
      </p:cxnSp>
      <p:cxnSp>
        <p:nvCxnSpPr>
          <p:cNvPr id="59" name=""/>
          <p:cNvCxnSpPr>
            <a:stCxn xmlns:a="http://schemas.openxmlformats.org/drawingml/2006/main" id="23" idx="3"/>
            <a:endCxn xmlns:a="http://schemas.openxmlformats.org/drawingml/2006/main" id="25" idx="1"/>
          </p:cNvCxnSpPr>
          <p:nvPr/>
        </p:nvCxnSpPr>
        <p:spPr>
          <a:xfrm xmlns:a="http://schemas.openxmlformats.org/drawingml/2006/main">
            <a:off x="8867775" y="5257800"/>
            <a:ext cx="485775" cy="0"/>
          </a:xfrm>
          <a:prstGeom xmlns:a="http://schemas.openxmlformats.org/drawingml/2006/main" prst="straightConnector1">
            <a:avLst/>
          </a:prstGeom>
          <a:ln xmlns:a="http://schemas.openxmlformats.org/drawingml/2006/main" w="20955">
            <a:solidFill>
              <a:srgbClr val="087D6E"/>
            </a:solidFill>
            <a:headEnd type="triangle" w="med" len="med"/>
            <a:tailEnd type="triangle" w="med" len="med"/>
          </a:ln>
        </p:spPr>
      </p:cxnSp>
      <p:sp>
        <p:nvSpPr>
          <p:cNvPr id="29" name="Contextual explanation">
            <a:extLst xmlns:a="http://schemas.openxmlformats.org/drawingml/2006/main">
              <a:ext uri="{FF2B5EF4-FFF2-40B4-BE49-F238E27FC236}">
                <a16:creationId xmlns:a16="http://schemas.microsoft.com/office/drawing/2014/main" id="{0141F40B-7984-44B0-AEB3-64AD5D51CE1C}"/>
              </a:ext>
            </a:extLst>
          </p:cNvPr>
          <p:cNvSpPr>
            <a:spLocks xmlns:a="http://schemas.openxmlformats.org/drawingml/2006/main" noGrp="1"/>
          </p:cNvSpPr>
          <p:nvPr/>
        </p:nvSpPr>
        <p:spPr>
          <a:xfrm xmlns:a="http://schemas.openxmlformats.org/drawingml/2006/main">
            <a:off x="5857875" y="6115050"/>
            <a:ext cx="3038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1">
                <a:solidFill>
                  <a:srgbClr val="087D6E"/>
                </a:solidFill>
                <a:latin typeface="Helvetica Neue"/>
                <a:ea typeface="Helvetica Neue"/>
                <a:cs typeface="Helvetica Neue"/>
              </a:defRPr>
            </a:pPr>
            <a:r>
              <a:rPr sz="1875" b="1">
                <a:solidFill>
                  <a:srgbClr val="087D6E"/>
                </a:solidFill>
                <a:latin typeface="Helvetica Neue"/>
                <a:ea typeface="Helvetica Neue"/>
                <a:cs typeface="Helvetica Neue"/>
              </a:rPr>
              <a:t>Contextual explanation</a:t>
            </a:r>
          </a:p>
        </p:txBody>
      </p:sp>
      <p:cxnSp>
        <p:nvCxnSpPr>
          <p:cNvPr id="61" name=""/>
          <p:cNvCxnSpPr>
            <a:stCxn xmlns:a="http://schemas.openxmlformats.org/drawingml/2006/main" id="23" idx="2"/>
            <a:endCxn xmlns:a="http://schemas.openxmlformats.org/drawingml/2006/main" id="29" idx="0"/>
          </p:cNvCxnSpPr>
          <p:nvPr/>
        </p:nvCxnSpPr>
        <p:spPr>
          <a:xfrm xmlns:a="http://schemas.openxmlformats.org/drawingml/2006/main">
            <a:off x="7372350" y="5695950"/>
            <a:ext cx="4763" cy="419100"/>
          </a:xfrm>
          <a:prstGeom xmlns:a="http://schemas.openxmlformats.org/drawingml/2006/main" prst="straightConnector1">
            <a:avLst/>
          </a:prstGeom>
          <a:ln xmlns:a="http://schemas.openxmlformats.org/drawingml/2006/main" w="20955">
            <a:solidFill>
              <a:srgbClr val="087D6E"/>
            </a:solidFill>
            <a:tailEnd type="triangle" w="med" len="med"/>
          </a:ln>
        </p:spPr>
      </p:cxnSp>
      <p:sp>
        <p:nvSpPr>
          <p:cNvPr id="31" name="Simulated sensor feed. Research insights require clinical validation.">
            <a:extLst xmlns:a="http://schemas.openxmlformats.org/drawingml/2006/main">
              <a:ext uri="{FF2B5EF4-FFF2-40B4-BE49-F238E27FC236}">
                <a16:creationId xmlns:a16="http://schemas.microsoft.com/office/drawing/2014/main" id="{B9ED6ED8-2F99-4584-B7BA-3F3DF697FD89}"/>
              </a:ext>
            </a:extLst>
          </p:cNvPr>
          <p:cNvSpPr>
            <a:spLocks xmlns:a="http://schemas.openxmlformats.org/drawingml/2006/main" noGrp="1"/>
          </p:cNvSpPr>
          <p:nvPr/>
        </p:nvSpPr>
        <p:spPr>
          <a:xfrm xmlns:a="http://schemas.openxmlformats.org/drawingml/2006/main">
            <a:off x="609600" y="6562725"/>
            <a:ext cx="10325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97079"/>
                </a:solidFill>
                <a:latin typeface="Helvetica Neue"/>
                <a:ea typeface="Helvetica Neue"/>
                <a:cs typeface="Helvetica Neue"/>
              </a:defRPr>
            </a:pPr>
            <a:r>
              <a:rPr sz="1275" b="0">
                <a:solidFill>
                  <a:srgbClr val="597079"/>
                </a:solidFill>
                <a:latin typeface="Helvetica Neue"/>
                <a:ea typeface="Helvetica Neue"/>
                <a:cs typeface="Helvetica Neue"/>
              </a:rPr>
              <a:t>Simulated sensor feed. Research insights require clinical validation.</a:t>
            </a:r>
          </a:p>
        </p:txBody>
      </p:sp>
    </p:spTree>
    <p:extLst>
      <p:ext uri="{BB962C8B-B14F-4D97-AF65-F5344CB8AC3E}">
        <p14:creationId xmlns:p14="http://schemas.microsoft.com/office/powerpoint/2010/main" val="516560990"/>
      </p:ext>
    </p:extLst>
  </p:cSld>
</p:sld>
</file>

<file path=ppt/slides/slide6.xml><?xml version="1.0" encoding="utf-8"?>
<p:sld xmlns:p="http://schemas.openxmlformats.org/presentationml/2006/main">
  <p:cSld>
    <p:bg>
      <p:bgPr>
        <a:solidFill xmlns:a="http://schemas.openxmlformats.org/drawingml/2006/main">
          <a:srgbClr val="0C171C"/>
        </a:solidFill>
      </p:bgPr>
    </p:bg>
    <p:spTree>
      <p:nvGrpSpPr>
        <p:cNvPr id="1" name=""/>
        <p:cNvGrpSpPr/>
        <p:nvPr/>
      </p:nvGrpSpPr>
      <p:grpSpPr>
        <a:xfrm xmlns:a="http://schemas.openxmlformats.org/drawingml/2006/main"/>
      </p:grpSpPr>
      <p:sp>
        <p:nvSpPr>
          <p:cNvPr id="13" name="Glue4Glu">
            <a:extLst xmlns:a="http://schemas.openxmlformats.org/drawingml/2006/main">
              <a:ext uri="{FF2B5EF4-FFF2-40B4-BE49-F238E27FC236}">
                <a16:creationId xmlns:a16="http://schemas.microsoft.com/office/drawing/2014/main" id="{B4C4107F-A8E3-48FE-8895-AF921054587D}"/>
              </a:ext>
            </a:extLst>
          </p:cNvPr>
          <p:cNvSpPr>
            <a:spLocks xmlns:a="http://schemas.openxmlformats.org/drawingml/2006/main" noGrp="1"/>
          </p:cNvSpPr>
          <p:nvPr/>
        </p:nvSpPr>
        <p:spPr>
          <a:xfrm xmlns:a="http://schemas.openxmlformats.org/drawingml/2006/main">
            <a:off x="609600" y="4953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450" b="1">
                <a:solidFill>
                  <a:srgbClr val="F8FAF7"/>
                </a:solidFill>
                <a:latin typeface="Helvetica Neue"/>
                <a:ea typeface="Helvetica Neue"/>
                <a:cs typeface="Helvetica Neue"/>
              </a:defRPr>
            </a:pPr>
            <a:r>
              <a:rPr sz="3450" b="1">
                <a:solidFill>
                  <a:srgbClr val="F8FAF7"/>
                </a:solidFill>
                <a:latin typeface="Helvetica Neue"/>
                <a:ea typeface="Helvetica Neue"/>
                <a:cs typeface="Helvetica Neue"/>
              </a:rPr>
              <a:t>Glue4Glu</a:t>
            </a:r>
          </a:p>
        </p:txBody>
      </p:sp>
      <p:sp>
        <p:nvSpPr>
          <p:cNvPr id="2" name="05">
            <a:extLst xmlns:a="http://schemas.openxmlformats.org/drawingml/2006/main">
              <a:ext uri="{FF2B5EF4-FFF2-40B4-BE49-F238E27FC236}">
                <a16:creationId xmlns:a16="http://schemas.microsoft.com/office/drawing/2014/main" id="{ABDE3576-1E8B-4F66-AEF2-611EDDB02609}"/>
              </a:ext>
            </a:extLst>
          </p:cNvPr>
          <p:cNvSpPr>
            <a:spLocks xmlns:a="http://schemas.openxmlformats.org/drawingml/2006/main" noGrp="1"/>
          </p:cNvSpPr>
          <p:nvPr/>
        </p:nvSpPr>
        <p:spPr>
          <a:xfrm xmlns:a="http://schemas.openxmlformats.org/drawingml/2006/main">
            <a:off x="11144250" y="63627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350" b="0">
                <a:solidFill>
                  <a:srgbClr val="ADBDC1"/>
                </a:solidFill>
                <a:latin typeface="Helvetica Neue"/>
                <a:ea typeface="Helvetica Neue"/>
                <a:cs typeface="Helvetica Neue"/>
              </a:defRPr>
            </a:pPr>
            <a:r>
              <a:rPr sz="1350" b="0">
                <a:solidFill>
                  <a:srgbClr val="ADBDC1"/>
                </a:solidFill>
                <a:latin typeface="Helvetica Neue"/>
                <a:ea typeface="Helvetica Neue"/>
                <a:cs typeface="Helvetica Neue"/>
              </a:rPr>
              <a:t>06</a:t>
            </a:r>
          </a:p>
        </p:txBody>
      </p:sp>
      <p:sp>
        <p:nvSpPr>
          <p:cNvPr id="3" name="See it live">
            <a:extLst xmlns:a="http://schemas.openxmlformats.org/drawingml/2006/main">
              <a:ext uri="{FF2B5EF4-FFF2-40B4-BE49-F238E27FC236}">
                <a16:creationId xmlns:a16="http://schemas.microsoft.com/office/drawing/2014/main" id="{AFDECB84-DD66-4805-A3AE-B08D6D0E5E42}"/>
              </a:ext>
            </a:extLst>
          </p:cNvPr>
          <p:cNvSpPr>
            <a:spLocks xmlns:a="http://schemas.openxmlformats.org/drawingml/2006/main" noGrp="1"/>
          </p:cNvSpPr>
          <p:nvPr/>
        </p:nvSpPr>
        <p:spPr>
          <a:xfrm xmlns:a="http://schemas.openxmlformats.org/drawingml/2006/main">
            <a:off x="590550" y="1809750"/>
            <a:ext cx="10953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6675" b="1">
                <a:solidFill>
                  <a:srgbClr val="F8FAF7"/>
                </a:solidFill>
                <a:latin typeface="Helvetica Neue"/>
                <a:ea typeface="Helvetica Neue"/>
                <a:cs typeface="Helvetica Neue"/>
              </a:defRPr>
            </a:pPr>
            <a:r>
              <a:rPr sz="6675" b="1">
                <a:solidFill>
                  <a:srgbClr val="F8FAF7"/>
                </a:solidFill>
                <a:latin typeface="Helvetica Neue"/>
                <a:ea typeface="Helvetica Neue"/>
                <a:cs typeface="Helvetica Neue"/>
              </a:rPr>
              <a:t>See it live</a:t>
            </a:r>
          </a:p>
        </p:txBody>
      </p:sp>
      <p:sp>
        <p:nvSpPr>
          <p:cNvPr id="4" name="Continuous readings with a week of context">
            <a:extLst xmlns:a="http://schemas.openxmlformats.org/drawingml/2006/main">
              <a:ext uri="{FF2B5EF4-FFF2-40B4-BE49-F238E27FC236}">
                <a16:creationId xmlns:a16="http://schemas.microsoft.com/office/drawing/2014/main" id="{A3A05470-1AF1-4A9C-9444-4E168CF5495F}"/>
              </a:ext>
            </a:extLst>
          </p:cNvPr>
          <p:cNvSpPr>
            <a:spLocks xmlns:a="http://schemas.openxmlformats.org/drawingml/2006/main" noGrp="1"/>
          </p:cNvSpPr>
          <p:nvPr/>
        </p:nvSpPr>
        <p:spPr>
          <a:xfrm xmlns:a="http://schemas.openxmlformats.org/drawingml/2006/main">
            <a:off x="647700" y="31432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ADBDC1"/>
                </a:solidFill>
                <a:latin typeface="Helvetica Neue"/>
                <a:ea typeface="Helvetica Neue"/>
                <a:cs typeface="Helvetica Neue"/>
              </a:defRPr>
            </a:pPr>
            <a:r>
              <a:rPr sz="2325" b="0">
                <a:solidFill>
                  <a:srgbClr val="ADBDC1"/>
                </a:solidFill>
                <a:latin typeface="Helvetica Neue"/>
                <a:ea typeface="Helvetica Neue"/>
                <a:cs typeface="Helvetica Neue"/>
              </a:rPr>
              <a:t>Continuous readings with a week of context</a:t>
            </a:r>
          </a:p>
        </p:txBody>
      </p:sp>
      <p:sp>
        <p:nvSpPr>
          <p:cNvPr id="5" name="1s">
            <a:extLst xmlns:a="http://schemas.openxmlformats.org/drawingml/2006/main">
              <a:ext uri="{FF2B5EF4-FFF2-40B4-BE49-F238E27FC236}">
                <a16:creationId xmlns:a16="http://schemas.microsoft.com/office/drawing/2014/main" id="{9E98183A-7001-473D-8E31-FBAC55366B63}"/>
              </a:ext>
            </a:extLst>
          </p:cNvPr>
          <p:cNvSpPr>
            <a:spLocks xmlns:a="http://schemas.openxmlformats.org/drawingml/2006/main" noGrp="1"/>
          </p:cNvSpPr>
          <p:nvPr/>
        </p:nvSpPr>
        <p:spPr>
          <a:xfrm xmlns:a="http://schemas.openxmlformats.org/drawingml/2006/main">
            <a:off x="609600" y="4048125"/>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5700" b="1">
                <a:solidFill>
                  <a:srgbClr val="F8FAF7"/>
                </a:solidFill>
                <a:latin typeface="Helvetica Neue"/>
                <a:ea typeface="Helvetica Neue"/>
                <a:cs typeface="Helvetica Neue"/>
              </a:defRPr>
            </a:pPr>
            <a:r>
              <a:rPr sz="5700" b="1">
                <a:solidFill>
                  <a:srgbClr val="F8FAF7"/>
                </a:solidFill>
                <a:latin typeface="Helvetica Neue"/>
                <a:ea typeface="Helvetica Neue"/>
                <a:cs typeface="Helvetica Neue"/>
              </a:rPr>
              <a:t>1s</a:t>
            </a:r>
          </a:p>
        </p:txBody>
      </p:sp>
      <p:sp>
        <p:nvSpPr>
          <p:cNvPr id="6" name="Sensor updates">
            <a:extLst xmlns:a="http://schemas.openxmlformats.org/drawingml/2006/main">
              <a:ext uri="{FF2B5EF4-FFF2-40B4-BE49-F238E27FC236}">
                <a16:creationId xmlns:a16="http://schemas.microsoft.com/office/drawing/2014/main" id="{6466A185-DDAE-4126-AD3B-B8BC566773FD}"/>
              </a:ext>
            </a:extLst>
          </p:cNvPr>
          <p:cNvSpPr>
            <a:spLocks xmlns:a="http://schemas.openxmlformats.org/drawingml/2006/main" noGrp="1"/>
          </p:cNvSpPr>
          <p:nvPr/>
        </p:nvSpPr>
        <p:spPr>
          <a:xfrm xmlns:a="http://schemas.openxmlformats.org/drawingml/2006/main">
            <a:off x="647700" y="511492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ADBDC1"/>
                </a:solidFill>
                <a:latin typeface="Helvetica Neue"/>
                <a:ea typeface="Helvetica Neue"/>
                <a:cs typeface="Helvetica Neue"/>
              </a:defRPr>
            </a:pPr>
            <a:r>
              <a:rPr sz="1875" b="0">
                <a:solidFill>
                  <a:srgbClr val="ADBDC1"/>
                </a:solidFill>
                <a:latin typeface="Helvetica Neue"/>
                <a:ea typeface="Helvetica Neue"/>
                <a:cs typeface="Helvetica Neue"/>
              </a:rPr>
              <a:t>Sensor updates</a:t>
            </a:r>
          </a:p>
        </p:txBody>
      </p:sp>
      <p:sp>
        <p:nvSpPr>
          <p:cNvPr id="7" name="5 min">
            <a:extLst xmlns:a="http://schemas.openxmlformats.org/drawingml/2006/main">
              <a:ext uri="{FF2B5EF4-FFF2-40B4-BE49-F238E27FC236}">
                <a16:creationId xmlns:a16="http://schemas.microsoft.com/office/drawing/2014/main" id="{FE22565C-0488-45FF-98B1-3A0C694ED39A}"/>
              </a:ext>
            </a:extLst>
          </p:cNvPr>
          <p:cNvSpPr>
            <a:spLocks xmlns:a="http://schemas.openxmlformats.org/drawingml/2006/main" noGrp="1"/>
          </p:cNvSpPr>
          <p:nvPr/>
        </p:nvSpPr>
        <p:spPr>
          <a:xfrm xmlns:a="http://schemas.openxmlformats.org/drawingml/2006/main">
            <a:off x="4400550" y="4048125"/>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5700" b="1">
                <a:solidFill>
                  <a:srgbClr val="6DE0C0"/>
                </a:solidFill>
                <a:latin typeface="Helvetica Neue"/>
                <a:ea typeface="Helvetica Neue"/>
                <a:cs typeface="Helvetica Neue"/>
              </a:defRPr>
            </a:pPr>
            <a:r>
              <a:rPr sz="5700" b="1">
                <a:solidFill>
                  <a:srgbClr val="6DE0C0"/>
                </a:solidFill>
                <a:latin typeface="Helvetica Neue"/>
                <a:ea typeface="Helvetica Neue"/>
                <a:cs typeface="Helvetica Neue"/>
              </a:rPr>
              <a:t>5 min</a:t>
            </a:r>
          </a:p>
        </p:txBody>
      </p:sp>
      <p:sp>
        <p:nvSpPr>
          <p:cNvPr id="8" name="Rolling analytics">
            <a:extLst xmlns:a="http://schemas.openxmlformats.org/drawingml/2006/main">
              <a:ext uri="{FF2B5EF4-FFF2-40B4-BE49-F238E27FC236}">
                <a16:creationId xmlns:a16="http://schemas.microsoft.com/office/drawing/2014/main" id="{C0EEE70C-946B-461F-87F5-0BD99E77900C}"/>
              </a:ext>
            </a:extLst>
          </p:cNvPr>
          <p:cNvSpPr>
            <a:spLocks xmlns:a="http://schemas.openxmlformats.org/drawingml/2006/main" noGrp="1"/>
          </p:cNvSpPr>
          <p:nvPr/>
        </p:nvSpPr>
        <p:spPr>
          <a:xfrm xmlns:a="http://schemas.openxmlformats.org/drawingml/2006/main">
            <a:off x="4438650" y="511492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ADBDC1"/>
                </a:solidFill>
                <a:latin typeface="Helvetica Neue"/>
                <a:ea typeface="Helvetica Neue"/>
                <a:cs typeface="Helvetica Neue"/>
              </a:defRPr>
            </a:pPr>
            <a:r>
              <a:rPr sz="1875" b="0">
                <a:solidFill>
                  <a:srgbClr val="ADBDC1"/>
                </a:solidFill>
                <a:latin typeface="Helvetica Neue"/>
                <a:ea typeface="Helvetica Neue"/>
                <a:cs typeface="Helvetica Neue"/>
              </a:rPr>
              <a:t>Rolling analytics</a:t>
            </a:r>
          </a:p>
        </p:txBody>
      </p:sp>
      <p:sp>
        <p:nvSpPr>
          <p:cNvPr id="9" name="7d">
            <a:extLst xmlns:a="http://schemas.openxmlformats.org/drawingml/2006/main">
              <a:ext uri="{FF2B5EF4-FFF2-40B4-BE49-F238E27FC236}">
                <a16:creationId xmlns:a16="http://schemas.microsoft.com/office/drawing/2014/main" id="{52BDBD26-1114-403D-B283-3378D0ABFC95}"/>
              </a:ext>
            </a:extLst>
          </p:cNvPr>
          <p:cNvSpPr>
            <a:spLocks xmlns:a="http://schemas.openxmlformats.org/drawingml/2006/main" noGrp="1"/>
          </p:cNvSpPr>
          <p:nvPr/>
        </p:nvSpPr>
        <p:spPr>
          <a:xfrm xmlns:a="http://schemas.openxmlformats.org/drawingml/2006/main">
            <a:off x="8191500" y="4048125"/>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5700" b="1">
                <a:solidFill>
                  <a:srgbClr val="F8FAF7"/>
                </a:solidFill>
                <a:latin typeface="Helvetica Neue"/>
                <a:ea typeface="Helvetica Neue"/>
                <a:cs typeface="Helvetica Neue"/>
              </a:defRPr>
            </a:pPr>
            <a:r>
              <a:rPr sz="5700" b="1">
                <a:solidFill>
                  <a:srgbClr val="F8FAF7"/>
                </a:solidFill>
                <a:latin typeface="Helvetica Neue"/>
                <a:ea typeface="Helvetica Neue"/>
                <a:cs typeface="Helvetica Neue"/>
              </a:rPr>
              <a:t>7d</a:t>
            </a:r>
          </a:p>
        </p:txBody>
      </p:sp>
      <p:sp>
        <p:nvSpPr>
          <p:cNvPr id="10" name="Trend history">
            <a:extLst xmlns:a="http://schemas.openxmlformats.org/drawingml/2006/main">
              <a:ext uri="{FF2B5EF4-FFF2-40B4-BE49-F238E27FC236}">
                <a16:creationId xmlns:a16="http://schemas.microsoft.com/office/drawing/2014/main" id="{8C41D789-6FA9-4A07-B1B2-789333842A61}"/>
              </a:ext>
            </a:extLst>
          </p:cNvPr>
          <p:cNvSpPr>
            <a:spLocks xmlns:a="http://schemas.openxmlformats.org/drawingml/2006/main" noGrp="1"/>
          </p:cNvSpPr>
          <p:nvPr/>
        </p:nvSpPr>
        <p:spPr>
          <a:xfrm xmlns:a="http://schemas.openxmlformats.org/drawingml/2006/main">
            <a:off x="8229600" y="511492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ADBDC1"/>
                </a:solidFill>
                <a:latin typeface="Helvetica Neue"/>
                <a:ea typeface="Helvetica Neue"/>
                <a:cs typeface="Helvetica Neue"/>
              </a:defRPr>
            </a:pPr>
            <a:r>
              <a:rPr sz="1875" b="0">
                <a:solidFill>
                  <a:srgbClr val="ADBDC1"/>
                </a:solidFill>
                <a:latin typeface="Helvetica Neue"/>
                <a:ea typeface="Helvetica Neue"/>
                <a:cs typeface="Helvetica Neue"/>
              </a:rPr>
              <a:t>Trend history</a:t>
            </a:r>
          </a:p>
        </p:txBody>
      </p:sp>
      <p:sp>
        <p:nvSpPr>
          <p:cNvPr id="11" name="66 participants. 11,352 verified scored windows.">
            <a:extLst xmlns:a="http://schemas.openxmlformats.org/drawingml/2006/main">
              <a:ext uri="{FF2B5EF4-FFF2-40B4-BE49-F238E27FC236}">
                <a16:creationId xmlns:a16="http://schemas.microsoft.com/office/drawing/2014/main" id="{59F78E38-867F-42C5-840D-73105765C030}"/>
              </a:ext>
            </a:extLst>
          </p:cNvPr>
          <p:cNvSpPr>
            <a:spLocks xmlns:a="http://schemas.openxmlformats.org/drawingml/2006/main" noGrp="1"/>
          </p:cNvSpPr>
          <p:nvPr/>
        </p:nvSpPr>
        <p:spPr>
          <a:xfrm xmlns:a="http://schemas.openxmlformats.org/drawingml/2006/main">
            <a:off x="647700" y="58769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F8FAF7"/>
                </a:solidFill>
                <a:latin typeface="Helvetica Neue"/>
                <a:ea typeface="Helvetica Neue"/>
                <a:cs typeface="Helvetica Neue"/>
              </a:defRPr>
            </a:pPr>
            <a:r>
              <a:rPr sz="2025" b="0">
                <a:solidFill>
                  <a:srgbClr val="F8FAF7"/>
                </a:solidFill>
                <a:latin typeface="Helvetica Neue"/>
                <a:ea typeface="Helvetica Neue"/>
                <a:cs typeface="Helvetica Neue"/>
              </a:rPr>
              <a:t>66 participants. 11,352 verified scored windows.</a:t>
            </a:r>
          </a:p>
        </p:txBody>
      </p:sp>
      <p:sp>
        <p:nvSpPr>
          <p:cNvPr id="12" name="Verified 10:09 a.m. Eastern, Oct 4. Demo ticks interpolate minute summ">
            <a:extLst xmlns:a="http://schemas.openxmlformats.org/drawingml/2006/main">
              <a:ext uri="{FF2B5EF4-FFF2-40B4-BE49-F238E27FC236}">
                <a16:creationId xmlns:a16="http://schemas.microsoft.com/office/drawing/2014/main" id="{B7D48E7F-2E70-4D68-AADE-403AF71A1667}"/>
              </a:ext>
            </a:extLst>
          </p:cNvPr>
          <p:cNvSpPr>
            <a:spLocks xmlns:a="http://schemas.openxmlformats.org/drawingml/2006/main" noGrp="1"/>
          </p:cNvSpPr>
          <p:nvPr/>
        </p:nvSpPr>
        <p:spPr>
          <a:xfrm xmlns:a="http://schemas.openxmlformats.org/drawingml/2006/main">
            <a:off x="647700" y="65246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0">
                <a:solidFill>
                  <a:srgbClr val="ADBDC1"/>
                </a:solidFill>
                <a:latin typeface="Helvetica Neue"/>
                <a:ea typeface="Helvetica Neue"/>
                <a:cs typeface="Helvetica Neue"/>
              </a:defRPr>
            </a:pPr>
            <a:r>
              <a:rPr sz="1275" b="0">
                <a:solidFill>
                  <a:srgbClr val="ADBDC1"/>
                </a:solidFill>
                <a:latin typeface="Helvetica Neue"/>
                <a:ea typeface="Helvetica Neue"/>
                <a:cs typeface="Helvetica Neue"/>
              </a:rPr>
              <a:t>Verified 10:09 a.m. Eastern, Oct 4. Demo ticks interpolate minute summaries.</a:t>
            </a:r>
          </a:p>
        </p:txBody>
      </p:sp>
    </p:spTree>
    <p:extLst>
      <p:ext uri="{BB962C8B-B14F-4D97-AF65-F5344CB8AC3E}">
        <p14:creationId xmlns:p14="http://schemas.microsoft.com/office/powerpoint/2010/main" val="1966975563"/>
      </p:ext>
    </p:extLst>
  </p:cSld>
</p:sld>
</file>

<file path=ppt/slides/slide7.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21" name="References">
            <a:extLst xmlns:a="http://schemas.openxmlformats.org/drawingml/2006/main">
              <a:ext uri="{FF2B5EF4-FFF2-40B4-BE49-F238E27FC236}">
                <a16:creationId xmlns:a16="http://schemas.microsoft.com/office/drawing/2014/main" id="{696C3307-44E7-49BB-9C5B-A8945D25140E}"/>
              </a:ext>
            </a:extLst>
          </p:cNvPr>
          <p:cNvSpPr>
            <a:spLocks xmlns:a="http://schemas.openxmlformats.org/drawingml/2006/main" noGrp="1"/>
          </p:cNvSpPr>
          <p:nvPr/>
        </p:nvSpPr>
        <p:spPr>
          <a:xfrm xmlns:a="http://schemas.openxmlformats.org/drawingml/2006/main">
            <a:off x="609600" y="4953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52A32"/>
                </a:solidFill>
                <a:latin typeface="Helvetica Neue"/>
                <a:ea typeface="Helvetica Neue"/>
                <a:cs typeface="Helvetica Neue"/>
              </a:defRPr>
            </a:pPr>
            <a:r>
              <a:rPr sz="3450" b="1">
                <a:solidFill>
                  <a:srgbClr val="152A32"/>
                </a:solidFill>
                <a:latin typeface="Helvetica Neue"/>
                <a:ea typeface="Helvetica Neue"/>
                <a:cs typeface="Helvetica Neue"/>
              </a:rPr>
              <a:t>References</a:t>
            </a:r>
          </a:p>
        </p:txBody>
      </p:sp>
      <p:sp>
        <p:nvSpPr>
          <p:cNvPr id="2" name="Data sources and supporting publications">
            <a:extLst xmlns:a="http://schemas.openxmlformats.org/drawingml/2006/main">
              <a:ext uri="{FF2B5EF4-FFF2-40B4-BE49-F238E27FC236}">
                <a16:creationId xmlns:a16="http://schemas.microsoft.com/office/drawing/2014/main" id="{7BA280C7-2678-4705-8CC5-BF1EF487FFA6}"/>
              </a:ext>
            </a:extLst>
          </p:cNvPr>
          <p:cNvSpPr>
            <a:spLocks xmlns:a="http://schemas.openxmlformats.org/drawingml/2006/main" noGrp="1"/>
          </p:cNvSpPr>
          <p:nvPr/>
        </p:nvSpPr>
        <p:spPr>
          <a:xfrm xmlns:a="http://schemas.openxmlformats.org/drawingml/2006/main">
            <a:off x="628650" y="11811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97079"/>
                </a:solidFill>
                <a:latin typeface="Helvetica Neue"/>
                <a:ea typeface="Helvetica Neue"/>
                <a:cs typeface="Helvetica Neue"/>
              </a:defRPr>
            </a:pPr>
            <a:r>
              <a:rPr sz="1800" b="0">
                <a:solidFill>
                  <a:srgbClr val="597079"/>
                </a:solidFill>
                <a:latin typeface="Helvetica Neue"/>
                <a:ea typeface="Helvetica Neue"/>
                <a:cs typeface="Helvetica Neue"/>
              </a:rPr>
              <a:t>Data sources and supporting publications</a:t>
            </a:r>
          </a:p>
        </p:txBody>
      </p:sp>
      <p:sp>
        <p:nvSpPr>
          <p:cNvPr id="3" name="07">
            <a:extLst xmlns:a="http://schemas.openxmlformats.org/drawingml/2006/main">
              <a:ext uri="{FF2B5EF4-FFF2-40B4-BE49-F238E27FC236}">
                <a16:creationId xmlns:a16="http://schemas.microsoft.com/office/drawing/2014/main" id="{7C6C678F-1C9D-41C5-92D2-9A2F8FACA34A}"/>
              </a:ext>
            </a:extLst>
          </p:cNvPr>
          <p:cNvSpPr>
            <a:spLocks xmlns:a="http://schemas.openxmlformats.org/drawingml/2006/main" noGrp="1"/>
          </p:cNvSpPr>
          <p:nvPr/>
        </p:nvSpPr>
        <p:spPr>
          <a:xfrm xmlns:a="http://schemas.openxmlformats.org/drawingml/2006/main">
            <a:off x="11144250" y="63627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97079"/>
                </a:solidFill>
                <a:latin typeface="Helvetica Neue"/>
                <a:ea typeface="Helvetica Neue"/>
                <a:cs typeface="Helvetica Neue"/>
              </a:defRPr>
            </a:pPr>
            <a:r>
              <a:rPr sz="1350" b="0">
                <a:solidFill>
                  <a:srgbClr val="597079"/>
                </a:solidFill>
                <a:latin typeface="Helvetica Neue"/>
                <a:ea typeface="Helvetica Neue"/>
                <a:cs typeface="Helvetica Neue"/>
              </a:rPr>
              <a:t>07</a:t>
            </a:r>
          </a:p>
        </p:txBody>
      </p:sp>
      <p:sp>
        <p:nvSpPr>
          <p:cNvPr id="4" name="BIG IDEAs">
            <a:extLst xmlns:a="http://schemas.openxmlformats.org/drawingml/2006/main">
              <a:ext uri="{FF2B5EF4-FFF2-40B4-BE49-F238E27FC236}">
                <a16:creationId xmlns:a16="http://schemas.microsoft.com/office/drawing/2014/main" id="{7F9418F1-CCAC-4782-B39B-D91F9C3EC620}"/>
              </a:ext>
            </a:extLst>
          </p:cNvPr>
          <p:cNvSpPr>
            <a:spLocks xmlns:a="http://schemas.openxmlformats.org/drawingml/2006/main" noGrp="1"/>
          </p:cNvSpPr>
          <p:nvPr/>
        </p:nvSpPr>
        <p:spPr>
          <a:xfrm xmlns:a="http://schemas.openxmlformats.org/drawingml/2006/main">
            <a:off x="609600" y="18383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87D6E"/>
                </a:solidFill>
                <a:latin typeface="Helvetica Neue"/>
                <a:ea typeface="Helvetica Neue"/>
                <a:cs typeface="Helvetica Neue"/>
              </a:defRPr>
            </a:pPr>
            <a:r>
              <a:rPr sz="2550" b="1">
                <a:solidFill>
                  <a:srgbClr val="087D6E"/>
                </a:solidFill>
                <a:latin typeface="Helvetica Neue"/>
                <a:ea typeface="Helvetica Neue"/>
                <a:cs typeface="Helvetica Neue"/>
              </a:rPr>
              <a:t>BIG IDEAs</a:t>
            </a:r>
          </a:p>
        </p:txBody>
      </p:sp>
      <p:sp>
        <p:nvSpPr>
          <p:cNvPr id="5" name="Glycemic Variability and Wearable Device Data">
            <a:extLst xmlns:a="http://schemas.openxmlformats.org/drawingml/2006/main">
              <a:ext uri="{FF2B5EF4-FFF2-40B4-BE49-F238E27FC236}">
                <a16:creationId xmlns:a16="http://schemas.microsoft.com/office/drawing/2014/main" id="{E3216169-33C8-4FBA-8E14-800D9CBFD9CC}"/>
              </a:ext>
            </a:extLst>
          </p:cNvPr>
          <p:cNvSpPr>
            <a:spLocks xmlns:a="http://schemas.openxmlformats.org/drawingml/2006/main" noGrp="1"/>
          </p:cNvSpPr>
          <p:nvPr/>
        </p:nvSpPr>
        <p:spPr>
          <a:xfrm xmlns:a="http://schemas.openxmlformats.org/drawingml/2006/main">
            <a:off x="609600" y="2428875"/>
            <a:ext cx="5048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52A32"/>
                </a:solidFill>
                <a:latin typeface="Helvetica Neue"/>
                <a:ea typeface="Helvetica Neue"/>
                <a:cs typeface="Helvetica Neue"/>
              </a:defRPr>
            </a:pPr>
            <a:r>
              <a:rPr sz="2100" b="1">
                <a:solidFill>
                  <a:srgbClr val="152A32"/>
                </a:solidFill>
                <a:latin typeface="Helvetica Neue"/>
                <a:ea typeface="Helvetica Neue"/>
                <a:cs typeface="Helvetica Neue"/>
              </a:rPr>
              <a:t>Glycemic Variability and</a:t>
            </a:r>
          </a:p>
          <a:p xmlns:a="http://schemas.openxmlformats.org/drawingml/2006/main">
            <a:pPr algn="l">
              <a:defRPr sz="2100" b="1">
                <a:solidFill>
                  <a:srgbClr val="152A32"/>
                </a:solidFill>
                <a:latin typeface="Helvetica Neue"/>
                <a:ea typeface="Helvetica Neue"/>
                <a:cs typeface="Helvetica Neue"/>
              </a:defRPr>
            </a:pPr>
            <a:r>
              <a:rPr sz="2100" b="1">
                <a:solidFill>
                  <a:srgbClr val="152A32"/>
                </a:solidFill>
                <a:latin typeface="Helvetica Neue"/>
                <a:ea typeface="Helvetica Neue"/>
                <a:cs typeface="Helvetica Neue"/>
              </a:rPr>
              <a:t>Wearable Device Data</a:t>
            </a:r>
          </a:p>
        </p:txBody>
      </p:sp>
      <p:sp>
        <p:nvSpPr>
          <p:cNvPr id="6" name="Cho, P., Kim, J., Bent, B., and Dunn, J. (2026)">
            <a:extLst xmlns:a="http://schemas.openxmlformats.org/drawingml/2006/main">
              <a:ext uri="{FF2B5EF4-FFF2-40B4-BE49-F238E27FC236}">
                <a16:creationId xmlns:a16="http://schemas.microsoft.com/office/drawing/2014/main" id="{17F8D1E2-2C30-4DC3-A6C5-3AD1FAFDA331}"/>
              </a:ext>
            </a:extLst>
          </p:cNvPr>
          <p:cNvSpPr>
            <a:spLocks xmlns:a="http://schemas.openxmlformats.org/drawingml/2006/main" noGrp="1"/>
          </p:cNvSpPr>
          <p:nvPr/>
        </p:nvSpPr>
        <p:spPr>
          <a:xfrm xmlns:a="http://schemas.openxmlformats.org/drawingml/2006/main">
            <a:off x="609600" y="3295650"/>
            <a:ext cx="5048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97079"/>
                </a:solidFill>
                <a:latin typeface="Helvetica Neue"/>
                <a:ea typeface="Helvetica Neue"/>
                <a:cs typeface="Helvetica Neue"/>
              </a:defRPr>
            </a:pPr>
            <a:r>
              <a:rPr sz="1725" b="0">
                <a:solidFill>
                  <a:srgbClr val="597079"/>
                </a:solidFill>
                <a:latin typeface="Helvetica Neue"/>
                <a:ea typeface="Helvetica Neue"/>
                <a:cs typeface="Helvetica Neue"/>
              </a:rPr>
              <a:t>Cho, P., Kim, J., Bent, B.,</a:t>
            </a:r>
          </a:p>
          <a:p xmlns:a="http://schemas.openxmlformats.org/drawingml/2006/main">
            <a:pPr algn="l">
              <a:defRPr sz="1725" b="0">
                <a:solidFill>
                  <a:srgbClr val="597079"/>
                </a:solidFill>
                <a:latin typeface="Helvetica Neue"/>
                <a:ea typeface="Helvetica Neue"/>
                <a:cs typeface="Helvetica Neue"/>
              </a:defRPr>
            </a:pPr>
            <a:r>
              <a:rPr sz="1725" b="0">
                <a:solidFill>
                  <a:srgbClr val="597079"/>
                </a:solidFill>
                <a:latin typeface="Helvetica Neue"/>
                <a:ea typeface="Helvetica Neue"/>
                <a:cs typeface="Helvetica Neue"/>
              </a:rPr>
              <a:t>and Dunn, J. (2026)</a:t>
            </a:r>
          </a:p>
        </p:txBody>
      </p:sp>
      <p:sp>
        <p:nvSpPr>
          <p:cNvPr id="7" name="PhysioNet. Version 1.1.3">
            <a:extLst xmlns:a="http://schemas.openxmlformats.org/drawingml/2006/main">
              <a:ext uri="{FF2B5EF4-FFF2-40B4-BE49-F238E27FC236}">
                <a16:creationId xmlns:a16="http://schemas.microsoft.com/office/drawing/2014/main" id="{42CB573A-036C-4FB0-8798-13E3EC561EB2}"/>
              </a:ext>
            </a:extLst>
          </p:cNvPr>
          <p:cNvSpPr>
            <a:spLocks xmlns:a="http://schemas.openxmlformats.org/drawingml/2006/main" noGrp="1"/>
          </p:cNvSpPr>
          <p:nvPr/>
        </p:nvSpPr>
        <p:spPr>
          <a:xfrm xmlns:a="http://schemas.openxmlformats.org/drawingml/2006/main">
            <a:off x="609600" y="401002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52A32"/>
                </a:solidFill>
                <a:latin typeface="Helvetica Neue"/>
                <a:ea typeface="Helvetica Neue"/>
                <a:cs typeface="Helvetica Neue"/>
              </a:defRPr>
            </a:pPr>
            <a:r>
              <a:rPr sz="1725" b="0">
                <a:solidFill>
                  <a:srgbClr val="152A32"/>
                </a:solidFill>
                <a:latin typeface="Helvetica Neue"/>
                <a:ea typeface="Helvetica Neue"/>
                <a:cs typeface="Helvetica Neue"/>
              </a:rPr>
              <a:t>PhysioNet. Version 1.1.3</a:t>
            </a:r>
          </a:p>
        </p:txBody>
      </p:sp>
      <p:sp>
        <p:nvSpPr>
          <p:cNvPr id="8" name="doi.org/10.13026/aw6y-fc44">
            <a:extLst xmlns:a="http://schemas.openxmlformats.org/drawingml/2006/main">
              <a:ext uri="{FF2B5EF4-FFF2-40B4-BE49-F238E27FC236}">
                <a16:creationId xmlns:a16="http://schemas.microsoft.com/office/drawing/2014/main" id="{09E25180-F44F-48A8-A536-7F5207F58340}"/>
              </a:ext>
            </a:extLst>
          </p:cNvPr>
          <p:cNvSpPr>
            <a:spLocks xmlns:a="http://schemas.openxmlformats.org/drawingml/2006/main" noGrp="1"/>
          </p:cNvSpPr>
          <p:nvPr/>
        </p:nvSpPr>
        <p:spPr>
          <a:xfrm xmlns:a="http://schemas.openxmlformats.org/drawingml/2006/main">
            <a:off x="609600" y="4438650"/>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87D6E"/>
                </a:solidFill>
                <a:latin typeface="Helvetica Neue"/>
                <a:ea typeface="Helvetica Neue"/>
                <a:cs typeface="Helvetica Neue"/>
              </a:defRPr>
            </a:pPr>
            <a:r>
              <a:rPr sz="1725" b="0">
                <a:solidFill>
                  <a:srgbClr val="087D6E"/>
                </a:solidFill>
                <a:latin typeface="Helvetica Neue"/>
                <a:ea typeface="Helvetica Neue"/>
                <a:cs typeface="Helvetica Neue"/>
                <a:hlinkClick xmlns:r="http://schemas.openxmlformats.org/officeDocument/2006/relationships" r:id="R79a86f7d05cd4bf3"/>
              </a:rPr>
              <a:t>doi.org/10.13026/aw6y-fc44</a:t>
            </a:r>
          </a:p>
        </p:txBody>
      </p:sp>
      <p:sp>
        <p:nvSpPr>
          <p:cNvPr id="9" name="IMU50">
            <a:extLst xmlns:a="http://schemas.openxmlformats.org/drawingml/2006/main">
              <a:ext uri="{FF2B5EF4-FFF2-40B4-BE49-F238E27FC236}">
                <a16:creationId xmlns:a16="http://schemas.microsoft.com/office/drawing/2014/main" id="{95FD9B65-0791-44F3-A3AB-656F8ED4B0C8}"/>
              </a:ext>
            </a:extLst>
          </p:cNvPr>
          <p:cNvSpPr>
            <a:spLocks xmlns:a="http://schemas.openxmlformats.org/drawingml/2006/main" noGrp="1"/>
          </p:cNvSpPr>
          <p:nvPr/>
        </p:nvSpPr>
        <p:spPr>
          <a:xfrm xmlns:a="http://schemas.openxmlformats.org/drawingml/2006/main">
            <a:off x="6324600" y="1838325"/>
            <a:ext cx="5257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87D6E"/>
                </a:solidFill>
                <a:latin typeface="Helvetica Neue"/>
                <a:ea typeface="Helvetica Neue"/>
                <a:cs typeface="Helvetica Neue"/>
              </a:defRPr>
            </a:pPr>
            <a:r>
              <a:rPr sz="2550" b="1">
                <a:solidFill>
                  <a:srgbClr val="087D6E"/>
                </a:solidFill>
                <a:latin typeface="Helvetica Neue"/>
                <a:ea typeface="Helvetica Neue"/>
                <a:cs typeface="Helvetica Neue"/>
              </a:rPr>
              <a:t>IMU50</a:t>
            </a:r>
          </a:p>
        </p:txBody>
      </p:sp>
      <p:sp>
        <p:nvSpPr>
          <p:cNvPr id="10" name="High-frequency wrist IMU recordings from 50 subjects">
            <a:extLst xmlns:a="http://schemas.openxmlformats.org/drawingml/2006/main">
              <a:ext uri="{FF2B5EF4-FFF2-40B4-BE49-F238E27FC236}">
                <a16:creationId xmlns:a16="http://schemas.microsoft.com/office/drawing/2014/main" id="{851B7968-C827-4E38-8767-2102E59D977D}"/>
              </a:ext>
            </a:extLst>
          </p:cNvPr>
          <p:cNvSpPr>
            <a:spLocks xmlns:a="http://schemas.openxmlformats.org/drawingml/2006/main" noGrp="1"/>
          </p:cNvSpPr>
          <p:nvPr/>
        </p:nvSpPr>
        <p:spPr>
          <a:xfrm xmlns:a="http://schemas.openxmlformats.org/drawingml/2006/main">
            <a:off x="6324600" y="2428875"/>
            <a:ext cx="5257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52A32"/>
                </a:solidFill>
                <a:latin typeface="Helvetica Neue"/>
                <a:ea typeface="Helvetica Neue"/>
                <a:cs typeface="Helvetica Neue"/>
              </a:defRPr>
            </a:pPr>
            <a:r>
              <a:rPr sz="2100" b="1">
                <a:solidFill>
                  <a:srgbClr val="152A32"/>
                </a:solidFill>
                <a:latin typeface="Helvetica Neue"/>
                <a:ea typeface="Helvetica Neue"/>
                <a:cs typeface="Helvetica Neue"/>
              </a:rPr>
              <a:t>High-frequency wrist IMU</a:t>
            </a:r>
          </a:p>
          <a:p xmlns:a="http://schemas.openxmlformats.org/drawingml/2006/main">
            <a:pPr algn="l">
              <a:defRPr sz="2100" b="1">
                <a:solidFill>
                  <a:srgbClr val="152A32"/>
                </a:solidFill>
                <a:latin typeface="Helvetica Neue"/>
                <a:ea typeface="Helvetica Neue"/>
                <a:cs typeface="Helvetica Neue"/>
              </a:defRPr>
            </a:pPr>
            <a:r>
              <a:rPr sz="2100" b="1">
                <a:solidFill>
                  <a:srgbClr val="152A32"/>
                </a:solidFill>
                <a:latin typeface="Helvetica Neue"/>
                <a:ea typeface="Helvetica Neue"/>
                <a:cs typeface="Helvetica Neue"/>
              </a:rPr>
              <a:t>recordings from 50 subjects</a:t>
            </a:r>
          </a:p>
        </p:txBody>
      </p:sp>
      <p:sp>
        <p:nvSpPr>
          <p:cNvPr id="11" name="La Fratta, I., et al. (2026)">
            <a:extLst xmlns:a="http://schemas.openxmlformats.org/drawingml/2006/main">
              <a:ext uri="{FF2B5EF4-FFF2-40B4-BE49-F238E27FC236}">
                <a16:creationId xmlns:a16="http://schemas.microsoft.com/office/drawing/2014/main" id="{7CF498F4-8184-4A63-BC83-B63EE5CCD52B}"/>
              </a:ext>
            </a:extLst>
          </p:cNvPr>
          <p:cNvSpPr>
            <a:spLocks xmlns:a="http://schemas.openxmlformats.org/drawingml/2006/main" noGrp="1"/>
          </p:cNvSpPr>
          <p:nvPr/>
        </p:nvSpPr>
        <p:spPr>
          <a:xfrm xmlns:a="http://schemas.openxmlformats.org/drawingml/2006/main">
            <a:off x="6324600" y="3295650"/>
            <a:ext cx="5257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97079"/>
                </a:solidFill>
                <a:latin typeface="Helvetica Neue"/>
                <a:ea typeface="Helvetica Neue"/>
                <a:cs typeface="Helvetica Neue"/>
              </a:defRPr>
            </a:pPr>
            <a:r>
              <a:rPr sz="1725" b="0">
                <a:solidFill>
                  <a:srgbClr val="597079"/>
                </a:solidFill>
                <a:latin typeface="Helvetica Neue"/>
                <a:ea typeface="Helvetica Neue"/>
                <a:cs typeface="Helvetica Neue"/>
              </a:rPr>
              <a:t>La Fratta, I., et al. (2026)</a:t>
            </a:r>
          </a:p>
        </p:txBody>
      </p:sp>
      <p:sp>
        <p:nvSpPr>
          <p:cNvPr id="12" name="Zenodo. Version v1">
            <a:extLst xmlns:a="http://schemas.openxmlformats.org/drawingml/2006/main">
              <a:ext uri="{FF2B5EF4-FFF2-40B4-BE49-F238E27FC236}">
                <a16:creationId xmlns:a16="http://schemas.microsoft.com/office/drawing/2014/main" id="{B4478C4D-A0BD-4570-97FE-050E978B8C9C}"/>
              </a:ext>
            </a:extLst>
          </p:cNvPr>
          <p:cNvSpPr>
            <a:spLocks xmlns:a="http://schemas.openxmlformats.org/drawingml/2006/main" noGrp="1"/>
          </p:cNvSpPr>
          <p:nvPr/>
        </p:nvSpPr>
        <p:spPr>
          <a:xfrm xmlns:a="http://schemas.openxmlformats.org/drawingml/2006/main">
            <a:off x="6324600" y="4010025"/>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52A32"/>
                </a:solidFill>
                <a:latin typeface="Helvetica Neue"/>
                <a:ea typeface="Helvetica Neue"/>
                <a:cs typeface="Helvetica Neue"/>
              </a:defRPr>
            </a:pPr>
            <a:r>
              <a:rPr sz="1725" b="0">
                <a:solidFill>
                  <a:srgbClr val="152A32"/>
                </a:solidFill>
                <a:latin typeface="Helvetica Neue"/>
                <a:ea typeface="Helvetica Neue"/>
                <a:cs typeface="Helvetica Neue"/>
              </a:rPr>
              <a:t>Zenodo. Version v1</a:t>
            </a:r>
          </a:p>
        </p:txBody>
      </p:sp>
      <p:sp>
        <p:nvSpPr>
          <p:cNvPr id="13" name="doi.org/10.5281/zenodo.21468410">
            <a:extLst xmlns:a="http://schemas.openxmlformats.org/drawingml/2006/main">
              <a:ext uri="{FF2B5EF4-FFF2-40B4-BE49-F238E27FC236}">
                <a16:creationId xmlns:a16="http://schemas.microsoft.com/office/drawing/2014/main" id="{556FFAC7-FCAB-4887-A88F-2F8F58D87916}"/>
              </a:ext>
            </a:extLst>
          </p:cNvPr>
          <p:cNvSpPr>
            <a:spLocks xmlns:a="http://schemas.openxmlformats.org/drawingml/2006/main" noGrp="1"/>
          </p:cNvSpPr>
          <p:nvPr/>
        </p:nvSpPr>
        <p:spPr>
          <a:xfrm xmlns:a="http://schemas.openxmlformats.org/drawingml/2006/main">
            <a:off x="6324600" y="443865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87D6E"/>
                </a:solidFill>
                <a:latin typeface="Helvetica Neue"/>
                <a:ea typeface="Helvetica Neue"/>
                <a:cs typeface="Helvetica Neue"/>
              </a:defRPr>
            </a:pPr>
            <a:r>
              <a:rPr sz="1725" b="0">
                <a:solidFill>
                  <a:srgbClr val="087D6E"/>
                </a:solidFill>
                <a:latin typeface="Helvetica Neue"/>
                <a:ea typeface="Helvetica Neue"/>
                <a:cs typeface="Helvetica Neue"/>
                <a:hlinkClick xmlns:r="http://schemas.openxmlformats.org/officeDocument/2006/relationships" r:id="Rd7dfb856d5524928"/>
              </a:rPr>
              <a:t>doi.org/10.5281/zenodo.21468410</a:t>
            </a:r>
          </a:p>
        </p:txBody>
      </p:sp>
      <p:sp>
        <p:nvSpPr>
          <p:cNvPr id="14" name="Bent, B., et al. (2021)">
            <a:extLst xmlns:a="http://schemas.openxmlformats.org/drawingml/2006/main">
              <a:ext uri="{FF2B5EF4-FFF2-40B4-BE49-F238E27FC236}">
                <a16:creationId xmlns:a16="http://schemas.microsoft.com/office/drawing/2014/main" id="{7666EB25-DC96-4D25-9803-884737F4CEB1}"/>
              </a:ext>
            </a:extLst>
          </p:cNvPr>
          <p:cNvSpPr>
            <a:spLocks xmlns:a="http://schemas.openxmlformats.org/drawingml/2006/main" noGrp="1"/>
          </p:cNvSpPr>
          <p:nvPr/>
        </p:nvSpPr>
        <p:spPr>
          <a:xfrm xmlns:a="http://schemas.openxmlformats.org/drawingml/2006/main">
            <a:off x="609600" y="5191125"/>
            <a:ext cx="504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A32"/>
                </a:solidFill>
                <a:latin typeface="Helvetica Neue"/>
                <a:ea typeface="Helvetica Neue"/>
                <a:cs typeface="Helvetica Neue"/>
              </a:defRPr>
            </a:pPr>
            <a:r>
              <a:rPr sz="1800" b="1">
                <a:solidFill>
                  <a:srgbClr val="152A32"/>
                </a:solidFill>
                <a:latin typeface="Helvetica Neue"/>
                <a:ea typeface="Helvetica Neue"/>
                <a:cs typeface="Helvetica Neue"/>
              </a:rPr>
              <a:t>Bent, B., et al. (2021)</a:t>
            </a:r>
          </a:p>
        </p:txBody>
      </p:sp>
      <p:sp>
        <p:nvSpPr>
          <p:cNvPr id="15" name="Engineering digital biomarkers of interstitial glucose from noninvasive smartwatches">
            <a:extLst xmlns:a="http://schemas.openxmlformats.org/drawingml/2006/main">
              <a:ext uri="{FF2B5EF4-FFF2-40B4-BE49-F238E27FC236}">
                <a16:creationId xmlns:a16="http://schemas.microsoft.com/office/drawing/2014/main" id="{08890664-9473-41B5-AA3A-A6B4AA34D24E}"/>
              </a:ext>
            </a:extLst>
          </p:cNvPr>
          <p:cNvSpPr>
            <a:spLocks xmlns:a="http://schemas.openxmlformats.org/drawingml/2006/main" noGrp="1"/>
          </p:cNvSpPr>
          <p:nvPr/>
        </p:nvSpPr>
        <p:spPr>
          <a:xfrm xmlns:a="http://schemas.openxmlformats.org/drawingml/2006/main">
            <a:off x="609600" y="5581650"/>
            <a:ext cx="5286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97079"/>
                </a:solidFill>
                <a:latin typeface="Helvetica Neue"/>
                <a:ea typeface="Helvetica Neue"/>
                <a:cs typeface="Helvetica Neue"/>
              </a:defRPr>
            </a:pPr>
            <a:r>
              <a:rPr sz="1575" b="0">
                <a:solidFill>
                  <a:srgbClr val="597079"/>
                </a:solidFill>
                <a:latin typeface="Helvetica Neue"/>
                <a:ea typeface="Helvetica Neue"/>
                <a:cs typeface="Helvetica Neue"/>
              </a:rPr>
              <a:t>Engineering digital biomarkers of interstitial</a:t>
            </a:r>
          </a:p>
          <a:p xmlns:a="http://schemas.openxmlformats.org/drawingml/2006/main">
            <a:pPr algn="l">
              <a:defRPr sz="1575" b="0">
                <a:solidFill>
                  <a:srgbClr val="597079"/>
                </a:solidFill>
                <a:latin typeface="Helvetica Neue"/>
                <a:ea typeface="Helvetica Neue"/>
                <a:cs typeface="Helvetica Neue"/>
              </a:defRPr>
            </a:pPr>
            <a:r>
              <a:rPr sz="1575" b="0">
                <a:solidFill>
                  <a:srgbClr val="597079"/>
                </a:solidFill>
                <a:latin typeface="Helvetica Neue"/>
                <a:ea typeface="Helvetica Neue"/>
                <a:cs typeface="Helvetica Neue"/>
              </a:rPr>
              <a:t>glucose from noninvasive smartwatches</a:t>
            </a:r>
          </a:p>
        </p:txBody>
      </p:sp>
      <p:sp>
        <p:nvSpPr>
          <p:cNvPr id="16" name="npj Digital Medicine, 4, 89">
            <a:extLst xmlns:a="http://schemas.openxmlformats.org/drawingml/2006/main">
              <a:ext uri="{FF2B5EF4-FFF2-40B4-BE49-F238E27FC236}">
                <a16:creationId xmlns:a16="http://schemas.microsoft.com/office/drawing/2014/main" id="{6F4DA494-E36E-4EC1-BDD7-03226EAA47F6}"/>
              </a:ext>
            </a:extLst>
          </p:cNvPr>
          <p:cNvSpPr>
            <a:spLocks xmlns:a="http://schemas.openxmlformats.org/drawingml/2006/main" noGrp="1"/>
          </p:cNvSpPr>
          <p:nvPr/>
        </p:nvSpPr>
        <p:spPr>
          <a:xfrm xmlns:a="http://schemas.openxmlformats.org/drawingml/2006/main">
            <a:off x="609600" y="6153150"/>
            <a:ext cx="5048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97079"/>
                </a:solidFill>
                <a:latin typeface="Helvetica Neue"/>
                <a:ea typeface="Helvetica Neue"/>
                <a:cs typeface="Helvetica Neue"/>
              </a:defRPr>
            </a:pPr>
            <a:r>
              <a:rPr sz="1500" b="0">
                <a:solidFill>
                  <a:srgbClr val="597079"/>
                </a:solidFill>
                <a:latin typeface="Helvetica Neue"/>
                <a:ea typeface="Helvetica Neue"/>
                <a:cs typeface="Helvetica Neue"/>
              </a:rPr>
              <a:t>npj Digital Medicine, 4, 89</a:t>
            </a:r>
          </a:p>
        </p:txBody>
      </p:sp>
      <p:sp>
        <p:nvSpPr>
          <p:cNvPr id="17" name="doi.org/10.1038/s41746-021-00465-w">
            <a:extLst xmlns:a="http://schemas.openxmlformats.org/drawingml/2006/main">
              <a:ext uri="{FF2B5EF4-FFF2-40B4-BE49-F238E27FC236}">
                <a16:creationId xmlns:a16="http://schemas.microsoft.com/office/drawing/2014/main" id="{A141D5CB-F8FB-40AF-86BF-C316F3A4FF94}"/>
              </a:ext>
            </a:extLst>
          </p:cNvPr>
          <p:cNvSpPr>
            <a:spLocks xmlns:a="http://schemas.openxmlformats.org/drawingml/2006/main" noGrp="1"/>
          </p:cNvSpPr>
          <p:nvPr/>
        </p:nvSpPr>
        <p:spPr>
          <a:xfrm xmlns:a="http://schemas.openxmlformats.org/drawingml/2006/main">
            <a:off x="609600" y="645795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087D6E"/>
                </a:solidFill>
                <a:latin typeface="Helvetica Neue"/>
                <a:ea typeface="Helvetica Neue"/>
                <a:cs typeface="Helvetica Neue"/>
              </a:defRPr>
            </a:pPr>
            <a:r>
              <a:rPr sz="1500" b="0">
                <a:solidFill>
                  <a:srgbClr val="087D6E"/>
                </a:solidFill>
                <a:latin typeface="Helvetica Neue"/>
                <a:ea typeface="Helvetica Neue"/>
                <a:cs typeface="Helvetica Neue"/>
                <a:hlinkClick xmlns:r="http://schemas.openxmlformats.org/officeDocument/2006/relationships" r:id="R2b25d1e4c96a40ef"/>
              </a:rPr>
              <a:t>doi.org/10.1038/s41746-021-00465-w</a:t>
            </a:r>
          </a:p>
        </p:txBody>
      </p:sp>
      <p:sp>
        <p:nvSpPr>
          <p:cNvPr id="18" name="Pollard, T., et al. (2026)">
            <a:extLst xmlns:a="http://schemas.openxmlformats.org/drawingml/2006/main">
              <a:ext uri="{FF2B5EF4-FFF2-40B4-BE49-F238E27FC236}">
                <a16:creationId xmlns:a16="http://schemas.microsoft.com/office/drawing/2014/main" id="{B98C572B-E53C-4C58-BCD0-1764413FC4D3}"/>
              </a:ext>
            </a:extLst>
          </p:cNvPr>
          <p:cNvSpPr>
            <a:spLocks xmlns:a="http://schemas.openxmlformats.org/drawingml/2006/main" noGrp="1"/>
          </p:cNvSpPr>
          <p:nvPr/>
        </p:nvSpPr>
        <p:spPr>
          <a:xfrm xmlns:a="http://schemas.openxmlformats.org/drawingml/2006/main">
            <a:off x="6324600" y="5191125"/>
            <a:ext cx="5257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A32"/>
                </a:solidFill>
                <a:latin typeface="Helvetica Neue"/>
                <a:ea typeface="Helvetica Neue"/>
                <a:cs typeface="Helvetica Neue"/>
              </a:defRPr>
            </a:pPr>
            <a:r>
              <a:rPr sz="1800" b="1">
                <a:solidFill>
                  <a:srgbClr val="152A32"/>
                </a:solidFill>
                <a:latin typeface="Helvetica Neue"/>
                <a:ea typeface="Helvetica Neue"/>
                <a:cs typeface="Helvetica Neue"/>
              </a:rPr>
              <a:t>Pollard, T., et al. (2026)</a:t>
            </a:r>
          </a:p>
        </p:txBody>
      </p:sp>
      <p:sp>
        <p:nvSpPr>
          <p:cNvPr id="19" name="PhysioNet platform reference Nature Health, 1, 792–795">
            <a:extLst xmlns:a="http://schemas.openxmlformats.org/drawingml/2006/main">
              <a:ext uri="{FF2B5EF4-FFF2-40B4-BE49-F238E27FC236}">
                <a16:creationId xmlns:a16="http://schemas.microsoft.com/office/drawing/2014/main" id="{1B5F12B8-CEC7-4065-876B-3CEEEEB2CAB6}"/>
              </a:ext>
            </a:extLst>
          </p:cNvPr>
          <p:cNvSpPr>
            <a:spLocks xmlns:a="http://schemas.openxmlformats.org/drawingml/2006/main" noGrp="1"/>
          </p:cNvSpPr>
          <p:nvPr/>
        </p:nvSpPr>
        <p:spPr>
          <a:xfrm xmlns:a="http://schemas.openxmlformats.org/drawingml/2006/main">
            <a:off x="6324600" y="5581650"/>
            <a:ext cx="5257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97079"/>
                </a:solidFill>
                <a:latin typeface="Helvetica Neue"/>
                <a:ea typeface="Helvetica Neue"/>
                <a:cs typeface="Helvetica Neue"/>
              </a:defRPr>
            </a:pPr>
            <a:r>
              <a:rPr sz="1575" b="0">
                <a:solidFill>
                  <a:srgbClr val="597079"/>
                </a:solidFill>
                <a:latin typeface="Helvetica Neue"/>
                <a:ea typeface="Helvetica Neue"/>
                <a:cs typeface="Helvetica Neue"/>
              </a:rPr>
              <a:t>PhysioNet platform reference</a:t>
            </a:r>
          </a:p>
          <a:p xmlns:a="http://schemas.openxmlformats.org/drawingml/2006/main">
            <a:pPr algn="l">
              <a:defRPr sz="1575" b="0">
                <a:solidFill>
                  <a:srgbClr val="597079"/>
                </a:solidFill>
                <a:latin typeface="Helvetica Neue"/>
                <a:ea typeface="Helvetica Neue"/>
                <a:cs typeface="Helvetica Neue"/>
              </a:defRPr>
            </a:pPr>
            <a:r>
              <a:rPr sz="1575" b="0">
                <a:solidFill>
                  <a:srgbClr val="597079"/>
                </a:solidFill>
                <a:latin typeface="Helvetica Neue"/>
                <a:ea typeface="Helvetica Neue"/>
                <a:cs typeface="Helvetica Neue"/>
              </a:rPr>
              <a:t>Nature Health, 1, 792–795</a:t>
            </a:r>
          </a:p>
        </p:txBody>
      </p:sp>
      <p:sp>
        <p:nvSpPr>
          <p:cNvPr id="20" name="doi.org/10.1038/s44360-026-00096-z">
            <a:extLst xmlns:a="http://schemas.openxmlformats.org/drawingml/2006/main">
              <a:ext uri="{FF2B5EF4-FFF2-40B4-BE49-F238E27FC236}">
                <a16:creationId xmlns:a16="http://schemas.microsoft.com/office/drawing/2014/main" id="{D206D240-628C-47FC-80EF-A28AD4A7B0AE}"/>
              </a:ext>
            </a:extLst>
          </p:cNvPr>
          <p:cNvSpPr>
            <a:spLocks xmlns:a="http://schemas.openxmlformats.org/drawingml/2006/main" noGrp="1"/>
          </p:cNvSpPr>
          <p:nvPr/>
        </p:nvSpPr>
        <p:spPr>
          <a:xfrm xmlns:a="http://schemas.openxmlformats.org/drawingml/2006/main">
            <a:off x="6324600" y="62198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087D6E"/>
                </a:solidFill>
                <a:latin typeface="Helvetica Neue"/>
                <a:ea typeface="Helvetica Neue"/>
                <a:cs typeface="Helvetica Neue"/>
              </a:defRPr>
            </a:pPr>
            <a:r>
              <a:rPr sz="1500" b="0">
                <a:solidFill>
                  <a:srgbClr val="087D6E"/>
                </a:solidFill>
                <a:latin typeface="Helvetica Neue"/>
                <a:ea typeface="Helvetica Neue"/>
                <a:cs typeface="Helvetica Neue"/>
                <a:hlinkClick xmlns:r="http://schemas.openxmlformats.org/officeDocument/2006/relationships" r:id="R6db9cf15a6af4baa"/>
              </a:rPr>
              <a:t>doi.org/10.1038/s44360-026-00096-z</a:t>
            </a:r>
          </a:p>
        </p:txBody>
      </p:sp>
    </p:spTree>
    <p:extLst>
      <p:ext uri="{BB962C8B-B14F-4D97-AF65-F5344CB8AC3E}">
        <p14:creationId xmlns:p14="http://schemas.microsoft.com/office/powerpoint/2010/main" val="10634773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2026-10-04T16:02:59.4900000Z</dcterms:created>
  <dcterms:modified xsi:type="dcterms:W3CDTF">2026-10-04T16:02:59.4900000Z</dcterms:modified>
</coreProperties>
</file>